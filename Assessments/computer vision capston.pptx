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82365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4"/>
                </a:solidFill>
              </a:rPr>
              <a:t>Damage Detection and Selective Restoration of Historical Photographs</a:t>
            </a:r>
            <a:endParaRPr lang="en-US" sz="1000" dirty="0"/>
          </a:p>
        </p:txBody>
      </p:sp>
      <p:sp>
        <p:nvSpPr>
          <p:cNvPr id="3" name="Text 1"/>
          <p:cNvSpPr>
            <a:spLocks noGrp="1"/>
          </p:cNvSpPr>
          <p:nvPr>
            <p:ph type="title" idx="101" hasCustomPrompt="1"/>
          </p:nvPr>
        </p:nvSpPr>
        <p:spPr>
          <a:xfrm>
            <a:off x="548640" y="320040"/>
            <a:ext cx="11064240" cy="868680"/>
          </a:xfrm>
          <a:prstGeom prst="rect">
            <a:avLst/>
          </a:prstGeom>
          <a:noFill/>
          <a:ln/>
        </p:spPr>
        <p:txBody>
          <a:bodyPr wrap="square" rtlCol="0"/>
          <a:lstStyle>
            <a:lvl1pPr marL="0" indent="0">
              <a:buNone/>
              <a:defRPr lang="en-US" sz="3400" b="1" dirty="0">
                <a:solidFill>
                  <a:schemeClr val="tx2"/>
                </a:solidFill>
              </a:defRPr>
            </a:lvl1pPr>
          </a:lstStyle>
          <a:p>
            <a:pPr marL="0" indent="0">
              <a:buNone/>
            </a:pPr>
            <a:endParaRPr lang="en-US" sz="3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400" b="1" dirty="0">
                <a:solidFill>
                  <a:schemeClr val="tx2"/>
                </a:solidFill>
              </a:rPr>
              <a:t>Agenda</a:t>
            </a:r>
            <a:endParaRPr lang="en-US" sz="3400" dirty="0"/>
          </a:p>
        </p:txBody>
      </p:sp>
      <p:sp>
        <p:nvSpPr>
          <p:cNvPr id="3" name="Text 1"/>
          <p:cNvSpPr txBox="1"/>
          <p:nvPr/>
        </p:nvSpPr>
        <p:spPr>
          <a:xfrm>
            <a:off x="548640" y="1188720"/>
            <a:ext cx="11064240" cy="548640"/>
          </a:xfrm>
          <a:prstGeom prst="rect">
            <a:avLst/>
          </a:prstGeom>
          <a:noFill/>
          <a:ln/>
        </p:spPr>
        <p:txBody>
          <a:bodyPr wrap="square" lIns="0" tIns="0" rIns="0" bIns="0" rtlCol="0" anchor="t"/>
          <a:lstStyle/>
          <a:p>
            <a:pPr marL="0" indent="0">
              <a:buNone/>
            </a:pPr>
            <a:endParaRPr lang="en-US" sz="1600" dirty="0"/>
          </a:p>
        </p:txBody>
      </p:sp>
      <p:sp>
        <p:nvSpPr>
          <p:cNvPr id="4" name="Shape 2"/>
          <p:cNvSpPr/>
          <p:nvPr/>
        </p:nvSpPr>
        <p:spPr>
          <a:xfrm>
            <a:off x="548640" y="2011680"/>
            <a:ext cx="3474720" cy="1828800"/>
          </a:xfrm>
          <a:prstGeom prst="roundRect">
            <a:avLst>
              <a:gd name="adj" fmla="val 6000"/>
            </a:avLst>
          </a:prstGeom>
          <a:solidFill>
            <a:schemeClr val="bg2"/>
          </a:solidFill>
          <a:ln/>
        </p:spPr>
      </p:sp>
      <p:sp>
        <p:nvSpPr>
          <p:cNvPr id="5" name="Text 3"/>
          <p:cNvSpPr txBox="1"/>
          <p:nvPr/>
        </p:nvSpPr>
        <p:spPr>
          <a:xfrm>
            <a:off x="822960" y="2194560"/>
            <a:ext cx="1371600" cy="548640"/>
          </a:xfrm>
          <a:prstGeom prst="rect">
            <a:avLst/>
          </a:prstGeom>
          <a:noFill/>
          <a:ln/>
        </p:spPr>
        <p:txBody>
          <a:bodyPr wrap="square" lIns="0" tIns="0" rIns="0" bIns="0" rtlCol="0" anchor="t"/>
          <a:lstStyle/>
          <a:p>
            <a:pPr marL="0" indent="0">
              <a:buNone/>
            </a:pPr>
            <a:r>
              <a:rPr lang="en-US" sz="3200" b="1" dirty="0">
                <a:solidFill>
                  <a:schemeClr val="accent1"/>
                </a:solidFill>
                <a:latin typeface="Cambria" pitchFamily="34" charset="0"/>
                <a:ea typeface="Cambria" pitchFamily="34" charset="-122"/>
                <a:cs typeface="Cambria" pitchFamily="34" charset="-120"/>
              </a:rPr>
              <a:t>01</a:t>
            </a:r>
            <a:endParaRPr lang="en-US" sz="3200" dirty="0"/>
          </a:p>
        </p:txBody>
      </p:sp>
      <p:sp>
        <p:nvSpPr>
          <p:cNvPr id="6" name="Text 4"/>
          <p:cNvSpPr txBox="1"/>
          <p:nvPr/>
        </p:nvSpPr>
        <p:spPr>
          <a:xfrm>
            <a:off x="822960" y="2788920"/>
            <a:ext cx="2926080" cy="365760"/>
          </a:xfrm>
          <a:prstGeom prst="rect">
            <a:avLst/>
          </a:prstGeom>
          <a:noFill/>
          <a:ln/>
        </p:spPr>
        <p:txBody>
          <a:bodyPr wrap="square" lIns="0" tIns="0" rIns="0" bIns="0" rtlCol="0" anchor="t"/>
          <a:lstStyle/>
          <a:p>
            <a:pPr marL="0" indent="0">
              <a:buNone/>
            </a:pPr>
            <a:r>
              <a:rPr lang="en-US" sz="2000" b="1" dirty="0">
                <a:solidFill>
                  <a:schemeClr val="tx2"/>
                </a:solidFill>
              </a:rPr>
              <a:t>Introduction</a:t>
            </a:r>
            <a:endParaRPr lang="en-US" sz="2000" dirty="0"/>
          </a:p>
        </p:txBody>
      </p:sp>
      <p:sp>
        <p:nvSpPr>
          <p:cNvPr id="7" name="Text 5"/>
          <p:cNvSpPr txBox="1"/>
          <p:nvPr/>
        </p:nvSpPr>
        <p:spPr>
          <a:xfrm>
            <a:off x="822960" y="3200400"/>
            <a:ext cx="2926080" cy="502920"/>
          </a:xfrm>
          <a:prstGeom prst="rect">
            <a:avLst/>
          </a:prstGeom>
          <a:noFill/>
          <a:ln/>
        </p:spPr>
        <p:txBody>
          <a:bodyPr wrap="square" lIns="0" tIns="0" rIns="0" bIns="0" rtlCol="0" anchor="t"/>
          <a:lstStyle/>
          <a:p>
            <a:pPr marL="0" indent="0">
              <a:buNone/>
            </a:pPr>
            <a:r>
              <a:rPr lang="en-US" sz="1400" dirty="0">
                <a:solidFill>
                  <a:schemeClr val="accent4"/>
                </a:solidFill>
              </a:rPr>
              <a:t>Why historical photographs need restoration</a:t>
            </a:r>
            <a:endParaRPr lang="en-US" sz="1400" dirty="0"/>
          </a:p>
        </p:txBody>
      </p:sp>
      <p:sp>
        <p:nvSpPr>
          <p:cNvPr id="8" name="Shape 6"/>
          <p:cNvSpPr/>
          <p:nvPr/>
        </p:nvSpPr>
        <p:spPr>
          <a:xfrm>
            <a:off x="4343400" y="2011680"/>
            <a:ext cx="3474720" cy="1828800"/>
          </a:xfrm>
          <a:prstGeom prst="roundRect">
            <a:avLst>
              <a:gd name="adj" fmla="val 6000"/>
            </a:avLst>
          </a:prstGeom>
          <a:solidFill>
            <a:schemeClr val="bg2"/>
          </a:solidFill>
          <a:ln/>
        </p:spPr>
      </p:sp>
      <p:sp>
        <p:nvSpPr>
          <p:cNvPr id="9" name="Text 7"/>
          <p:cNvSpPr txBox="1"/>
          <p:nvPr/>
        </p:nvSpPr>
        <p:spPr>
          <a:xfrm>
            <a:off x="4617720" y="2194560"/>
            <a:ext cx="1371600" cy="548640"/>
          </a:xfrm>
          <a:prstGeom prst="rect">
            <a:avLst/>
          </a:prstGeom>
          <a:noFill/>
          <a:ln/>
        </p:spPr>
        <p:txBody>
          <a:bodyPr wrap="square" lIns="0" tIns="0" rIns="0" bIns="0" rtlCol="0" anchor="t"/>
          <a:lstStyle/>
          <a:p>
            <a:pPr marL="0" indent="0">
              <a:buNone/>
            </a:pPr>
            <a:r>
              <a:rPr lang="en-US" sz="3200" b="1" dirty="0">
                <a:solidFill>
                  <a:schemeClr val="accent1"/>
                </a:solidFill>
                <a:latin typeface="Cambria" pitchFamily="34" charset="0"/>
                <a:ea typeface="Cambria" pitchFamily="34" charset="-122"/>
                <a:cs typeface="Cambria" pitchFamily="34" charset="-120"/>
              </a:rPr>
              <a:t>02</a:t>
            </a:r>
            <a:endParaRPr lang="en-US" sz="3200" dirty="0"/>
          </a:p>
        </p:txBody>
      </p:sp>
      <p:sp>
        <p:nvSpPr>
          <p:cNvPr id="10" name="Text 8"/>
          <p:cNvSpPr txBox="1"/>
          <p:nvPr/>
        </p:nvSpPr>
        <p:spPr>
          <a:xfrm>
            <a:off x="4617720" y="2788920"/>
            <a:ext cx="2926080" cy="365760"/>
          </a:xfrm>
          <a:prstGeom prst="rect">
            <a:avLst/>
          </a:prstGeom>
          <a:noFill/>
          <a:ln/>
        </p:spPr>
        <p:txBody>
          <a:bodyPr wrap="square" lIns="0" tIns="0" rIns="0" bIns="0" rtlCol="0" anchor="t"/>
          <a:lstStyle/>
          <a:p>
            <a:pPr marL="0" indent="0">
              <a:buNone/>
            </a:pPr>
            <a:r>
              <a:rPr lang="en-US" sz="2000" b="1" dirty="0">
                <a:solidFill>
                  <a:schemeClr val="tx2"/>
                </a:solidFill>
              </a:rPr>
              <a:t>Literature Review</a:t>
            </a:r>
            <a:endParaRPr lang="en-US" sz="2000" dirty="0"/>
          </a:p>
        </p:txBody>
      </p:sp>
      <p:sp>
        <p:nvSpPr>
          <p:cNvPr id="11" name="Text 9"/>
          <p:cNvSpPr txBox="1"/>
          <p:nvPr/>
        </p:nvSpPr>
        <p:spPr>
          <a:xfrm>
            <a:off x="4617720" y="3200400"/>
            <a:ext cx="2926080" cy="502920"/>
          </a:xfrm>
          <a:prstGeom prst="rect">
            <a:avLst/>
          </a:prstGeom>
          <a:noFill/>
          <a:ln/>
        </p:spPr>
        <p:txBody>
          <a:bodyPr wrap="square" lIns="0" tIns="0" rIns="0" bIns="0" rtlCol="0" anchor="t"/>
          <a:lstStyle/>
          <a:p>
            <a:pPr marL="0" indent="0">
              <a:buNone/>
            </a:pPr>
            <a:r>
              <a:rPr lang="en-US" sz="1400" dirty="0">
                <a:solidFill>
                  <a:schemeClr val="accent4"/>
                </a:solidFill>
              </a:rPr>
              <a:t>Earlier work on inpainting and segmentation</a:t>
            </a:r>
            <a:endParaRPr lang="en-US" sz="1400" dirty="0"/>
          </a:p>
        </p:txBody>
      </p:sp>
      <p:sp>
        <p:nvSpPr>
          <p:cNvPr id="12" name="Shape 10"/>
          <p:cNvSpPr/>
          <p:nvPr/>
        </p:nvSpPr>
        <p:spPr>
          <a:xfrm>
            <a:off x="8138160" y="2011680"/>
            <a:ext cx="3474720" cy="1828800"/>
          </a:xfrm>
          <a:prstGeom prst="roundRect">
            <a:avLst>
              <a:gd name="adj" fmla="val 6000"/>
            </a:avLst>
          </a:prstGeom>
          <a:solidFill>
            <a:schemeClr val="bg2"/>
          </a:solidFill>
          <a:ln/>
        </p:spPr>
      </p:sp>
      <p:sp>
        <p:nvSpPr>
          <p:cNvPr id="13" name="Text 11"/>
          <p:cNvSpPr txBox="1"/>
          <p:nvPr/>
        </p:nvSpPr>
        <p:spPr>
          <a:xfrm>
            <a:off x="8412480" y="2194560"/>
            <a:ext cx="1371600" cy="548640"/>
          </a:xfrm>
          <a:prstGeom prst="rect">
            <a:avLst/>
          </a:prstGeom>
          <a:noFill/>
          <a:ln/>
        </p:spPr>
        <p:txBody>
          <a:bodyPr wrap="square" lIns="0" tIns="0" rIns="0" bIns="0" rtlCol="0" anchor="t"/>
          <a:lstStyle/>
          <a:p>
            <a:pPr marL="0" indent="0">
              <a:buNone/>
            </a:pPr>
            <a:r>
              <a:rPr lang="en-US" sz="3200" b="1" dirty="0">
                <a:solidFill>
                  <a:schemeClr val="accent1"/>
                </a:solidFill>
                <a:latin typeface="Cambria" pitchFamily="34" charset="0"/>
                <a:ea typeface="Cambria" pitchFamily="34" charset="-122"/>
                <a:cs typeface="Cambria" pitchFamily="34" charset="-120"/>
              </a:rPr>
              <a:t>03</a:t>
            </a:r>
            <a:endParaRPr lang="en-US" sz="3200" dirty="0"/>
          </a:p>
        </p:txBody>
      </p:sp>
      <p:sp>
        <p:nvSpPr>
          <p:cNvPr id="14" name="Text 12"/>
          <p:cNvSpPr txBox="1"/>
          <p:nvPr/>
        </p:nvSpPr>
        <p:spPr>
          <a:xfrm>
            <a:off x="8412480" y="2788920"/>
            <a:ext cx="2926080" cy="365760"/>
          </a:xfrm>
          <a:prstGeom prst="rect">
            <a:avLst/>
          </a:prstGeom>
          <a:noFill/>
          <a:ln/>
        </p:spPr>
        <p:txBody>
          <a:bodyPr wrap="square" lIns="0" tIns="0" rIns="0" bIns="0" rtlCol="0" anchor="t"/>
          <a:lstStyle/>
          <a:p>
            <a:pPr marL="0" indent="0">
              <a:buNone/>
            </a:pPr>
            <a:r>
              <a:rPr lang="en-US" sz="2000" b="1" dirty="0">
                <a:solidFill>
                  <a:schemeClr val="tx2"/>
                </a:solidFill>
              </a:rPr>
              <a:t>Problem Statement</a:t>
            </a:r>
            <a:endParaRPr lang="en-US" sz="2000" dirty="0"/>
          </a:p>
        </p:txBody>
      </p:sp>
      <p:sp>
        <p:nvSpPr>
          <p:cNvPr id="15" name="Text 13"/>
          <p:cNvSpPr txBox="1"/>
          <p:nvPr/>
        </p:nvSpPr>
        <p:spPr>
          <a:xfrm>
            <a:off x="8412480" y="3200400"/>
            <a:ext cx="2926080" cy="502920"/>
          </a:xfrm>
          <a:prstGeom prst="rect">
            <a:avLst/>
          </a:prstGeom>
          <a:noFill/>
          <a:ln/>
        </p:spPr>
        <p:txBody>
          <a:bodyPr wrap="square" lIns="0" tIns="0" rIns="0" bIns="0" rtlCol="0" anchor="t"/>
          <a:lstStyle/>
          <a:p>
            <a:pPr marL="0" indent="0">
              <a:buNone/>
            </a:pPr>
            <a:r>
              <a:rPr lang="en-US" sz="1400" dirty="0">
                <a:solidFill>
                  <a:schemeClr val="accent4"/>
                </a:solidFill>
              </a:rPr>
              <a:t>What current methods are missing</a:t>
            </a:r>
            <a:endParaRPr lang="en-US" sz="1400" dirty="0"/>
          </a:p>
        </p:txBody>
      </p:sp>
      <p:sp>
        <p:nvSpPr>
          <p:cNvPr id="16" name="Shape 14"/>
          <p:cNvSpPr/>
          <p:nvPr/>
        </p:nvSpPr>
        <p:spPr>
          <a:xfrm>
            <a:off x="548640" y="4114800"/>
            <a:ext cx="3474720" cy="1828800"/>
          </a:xfrm>
          <a:prstGeom prst="roundRect">
            <a:avLst>
              <a:gd name="adj" fmla="val 6000"/>
            </a:avLst>
          </a:prstGeom>
          <a:solidFill>
            <a:schemeClr val="bg2"/>
          </a:solidFill>
          <a:ln/>
        </p:spPr>
      </p:sp>
      <p:sp>
        <p:nvSpPr>
          <p:cNvPr id="17" name="Text 15"/>
          <p:cNvSpPr txBox="1"/>
          <p:nvPr/>
        </p:nvSpPr>
        <p:spPr>
          <a:xfrm>
            <a:off x="822960" y="4297680"/>
            <a:ext cx="1371600" cy="548640"/>
          </a:xfrm>
          <a:prstGeom prst="rect">
            <a:avLst/>
          </a:prstGeom>
          <a:noFill/>
          <a:ln/>
        </p:spPr>
        <p:txBody>
          <a:bodyPr wrap="square" lIns="0" tIns="0" rIns="0" bIns="0" rtlCol="0" anchor="t"/>
          <a:lstStyle/>
          <a:p>
            <a:pPr marL="0" indent="0">
              <a:buNone/>
            </a:pPr>
            <a:r>
              <a:rPr lang="en-US" sz="3200" b="1" dirty="0">
                <a:solidFill>
                  <a:schemeClr val="accent1"/>
                </a:solidFill>
                <a:latin typeface="Cambria" pitchFamily="34" charset="0"/>
                <a:ea typeface="Cambria" pitchFamily="34" charset="-122"/>
                <a:cs typeface="Cambria" pitchFamily="34" charset="-120"/>
              </a:rPr>
              <a:t>04</a:t>
            </a:r>
            <a:endParaRPr lang="en-US" sz="3200" dirty="0"/>
          </a:p>
        </p:txBody>
      </p:sp>
      <p:sp>
        <p:nvSpPr>
          <p:cNvPr id="18" name="Text 16"/>
          <p:cNvSpPr txBox="1"/>
          <p:nvPr/>
        </p:nvSpPr>
        <p:spPr>
          <a:xfrm>
            <a:off x="822960" y="4892040"/>
            <a:ext cx="2926080" cy="365760"/>
          </a:xfrm>
          <a:prstGeom prst="rect">
            <a:avLst/>
          </a:prstGeom>
          <a:noFill/>
          <a:ln/>
        </p:spPr>
        <p:txBody>
          <a:bodyPr wrap="square" lIns="0" tIns="0" rIns="0" bIns="0" rtlCol="0" anchor="t"/>
          <a:lstStyle/>
          <a:p>
            <a:pPr marL="0" indent="0">
              <a:buNone/>
            </a:pPr>
            <a:r>
              <a:rPr lang="en-US" sz="2000" b="1" dirty="0">
                <a:solidFill>
                  <a:schemeClr val="tx2"/>
                </a:solidFill>
              </a:rPr>
              <a:t>Objectives</a:t>
            </a:r>
            <a:endParaRPr lang="en-US" sz="2000" dirty="0"/>
          </a:p>
        </p:txBody>
      </p:sp>
      <p:sp>
        <p:nvSpPr>
          <p:cNvPr id="19" name="Text 17"/>
          <p:cNvSpPr txBox="1"/>
          <p:nvPr/>
        </p:nvSpPr>
        <p:spPr>
          <a:xfrm>
            <a:off x="822960" y="5303520"/>
            <a:ext cx="2926080" cy="502920"/>
          </a:xfrm>
          <a:prstGeom prst="rect">
            <a:avLst/>
          </a:prstGeom>
          <a:noFill/>
          <a:ln/>
        </p:spPr>
        <p:txBody>
          <a:bodyPr wrap="square" lIns="0" tIns="0" rIns="0" bIns="0" rtlCol="0" anchor="t"/>
          <a:lstStyle/>
          <a:p>
            <a:pPr marL="0" indent="0">
              <a:buNone/>
            </a:pPr>
            <a:r>
              <a:rPr lang="en-US" sz="1400" dirty="0">
                <a:solidFill>
                  <a:schemeClr val="accent4"/>
                </a:solidFill>
              </a:rPr>
              <a:t>What this project sets out to achieve</a:t>
            </a:r>
            <a:endParaRPr lang="en-US" sz="1400" dirty="0"/>
          </a:p>
        </p:txBody>
      </p:sp>
      <p:sp>
        <p:nvSpPr>
          <p:cNvPr id="20" name="Shape 18"/>
          <p:cNvSpPr/>
          <p:nvPr/>
        </p:nvSpPr>
        <p:spPr>
          <a:xfrm>
            <a:off x="4343400" y="4114800"/>
            <a:ext cx="3474720" cy="1828800"/>
          </a:xfrm>
          <a:prstGeom prst="roundRect">
            <a:avLst>
              <a:gd name="adj" fmla="val 6000"/>
            </a:avLst>
          </a:prstGeom>
          <a:solidFill>
            <a:schemeClr val="bg2"/>
          </a:solidFill>
          <a:ln/>
        </p:spPr>
      </p:sp>
      <p:sp>
        <p:nvSpPr>
          <p:cNvPr id="21" name="Text 19"/>
          <p:cNvSpPr txBox="1"/>
          <p:nvPr/>
        </p:nvSpPr>
        <p:spPr>
          <a:xfrm>
            <a:off x="4617720" y="4297680"/>
            <a:ext cx="1371600" cy="548640"/>
          </a:xfrm>
          <a:prstGeom prst="rect">
            <a:avLst/>
          </a:prstGeom>
          <a:noFill/>
          <a:ln/>
        </p:spPr>
        <p:txBody>
          <a:bodyPr wrap="square" lIns="0" tIns="0" rIns="0" bIns="0" rtlCol="0" anchor="t"/>
          <a:lstStyle/>
          <a:p>
            <a:pPr marL="0" indent="0">
              <a:buNone/>
            </a:pPr>
            <a:r>
              <a:rPr lang="en-US" sz="3200" b="1" dirty="0">
                <a:solidFill>
                  <a:schemeClr val="accent1"/>
                </a:solidFill>
                <a:latin typeface="Cambria" pitchFamily="34" charset="0"/>
                <a:ea typeface="Cambria" pitchFamily="34" charset="-122"/>
                <a:cs typeface="Cambria" pitchFamily="34" charset="-120"/>
              </a:rPr>
              <a:t>05</a:t>
            </a:r>
            <a:endParaRPr lang="en-US" sz="3200" dirty="0"/>
          </a:p>
        </p:txBody>
      </p:sp>
      <p:sp>
        <p:nvSpPr>
          <p:cNvPr id="22" name="Text 20"/>
          <p:cNvSpPr txBox="1"/>
          <p:nvPr/>
        </p:nvSpPr>
        <p:spPr>
          <a:xfrm>
            <a:off x="4617720" y="4892040"/>
            <a:ext cx="2926080" cy="365760"/>
          </a:xfrm>
          <a:prstGeom prst="rect">
            <a:avLst/>
          </a:prstGeom>
          <a:noFill/>
          <a:ln/>
        </p:spPr>
        <p:txBody>
          <a:bodyPr wrap="square" lIns="0" tIns="0" rIns="0" bIns="0" rtlCol="0" anchor="t"/>
          <a:lstStyle/>
          <a:p>
            <a:pPr marL="0" indent="0">
              <a:buNone/>
            </a:pPr>
            <a:r>
              <a:rPr lang="en-US" sz="2000" b="1" dirty="0">
                <a:solidFill>
                  <a:schemeClr val="tx2"/>
                </a:solidFill>
              </a:rPr>
              <a:t>System Architecture</a:t>
            </a:r>
            <a:endParaRPr lang="en-US" sz="2000" dirty="0"/>
          </a:p>
        </p:txBody>
      </p:sp>
      <p:sp>
        <p:nvSpPr>
          <p:cNvPr id="23" name="Text 21"/>
          <p:cNvSpPr txBox="1"/>
          <p:nvPr/>
        </p:nvSpPr>
        <p:spPr>
          <a:xfrm>
            <a:off x="4617720" y="5303520"/>
            <a:ext cx="2926080" cy="502920"/>
          </a:xfrm>
          <a:prstGeom prst="rect">
            <a:avLst/>
          </a:prstGeom>
          <a:noFill/>
          <a:ln/>
        </p:spPr>
        <p:txBody>
          <a:bodyPr wrap="square" lIns="0" tIns="0" rIns="0" bIns="0" rtlCol="0" anchor="t"/>
          <a:lstStyle/>
          <a:p>
            <a:pPr marL="0" indent="0">
              <a:buNone/>
            </a:pPr>
            <a:r>
              <a:rPr lang="en-US" sz="1400" dirty="0">
                <a:solidFill>
                  <a:schemeClr val="accent4"/>
                </a:solidFill>
              </a:rPr>
              <a:t>Overall design of the pipeline</a:t>
            </a:r>
            <a:endParaRPr lang="en-US" sz="1400" dirty="0"/>
          </a:p>
        </p:txBody>
      </p:sp>
      <p:sp>
        <p:nvSpPr>
          <p:cNvPr id="24" name="Shape 22"/>
          <p:cNvSpPr/>
          <p:nvPr/>
        </p:nvSpPr>
        <p:spPr>
          <a:xfrm>
            <a:off x="8138160" y="4114800"/>
            <a:ext cx="3474720" cy="1828800"/>
          </a:xfrm>
          <a:prstGeom prst="roundRect">
            <a:avLst>
              <a:gd name="adj" fmla="val 6000"/>
            </a:avLst>
          </a:prstGeom>
          <a:solidFill>
            <a:schemeClr val="bg2"/>
          </a:solidFill>
          <a:ln/>
        </p:spPr>
      </p:sp>
      <p:sp>
        <p:nvSpPr>
          <p:cNvPr id="25" name="Text 23"/>
          <p:cNvSpPr txBox="1"/>
          <p:nvPr/>
        </p:nvSpPr>
        <p:spPr>
          <a:xfrm>
            <a:off x="8412480" y="4297680"/>
            <a:ext cx="1371600" cy="548640"/>
          </a:xfrm>
          <a:prstGeom prst="rect">
            <a:avLst/>
          </a:prstGeom>
          <a:noFill/>
          <a:ln/>
        </p:spPr>
        <p:txBody>
          <a:bodyPr wrap="square" lIns="0" tIns="0" rIns="0" bIns="0" rtlCol="0" anchor="t"/>
          <a:lstStyle/>
          <a:p>
            <a:pPr marL="0" indent="0">
              <a:buNone/>
            </a:pPr>
            <a:r>
              <a:rPr lang="en-US" sz="3200" b="1" dirty="0">
                <a:solidFill>
                  <a:schemeClr val="accent1"/>
                </a:solidFill>
                <a:latin typeface="Cambria" pitchFamily="34" charset="0"/>
                <a:ea typeface="Cambria" pitchFamily="34" charset="-122"/>
                <a:cs typeface="Cambria" pitchFamily="34" charset="-120"/>
              </a:rPr>
              <a:t>06</a:t>
            </a:r>
            <a:endParaRPr lang="en-US" sz="3200" dirty="0"/>
          </a:p>
        </p:txBody>
      </p:sp>
      <p:sp>
        <p:nvSpPr>
          <p:cNvPr id="26" name="Text 24"/>
          <p:cNvSpPr txBox="1"/>
          <p:nvPr/>
        </p:nvSpPr>
        <p:spPr>
          <a:xfrm>
            <a:off x="8412480" y="4892040"/>
            <a:ext cx="2926080" cy="365760"/>
          </a:xfrm>
          <a:prstGeom prst="rect">
            <a:avLst/>
          </a:prstGeom>
          <a:noFill/>
          <a:ln/>
        </p:spPr>
        <p:txBody>
          <a:bodyPr wrap="square" lIns="0" tIns="0" rIns="0" bIns="0" rtlCol="0" anchor="t"/>
          <a:lstStyle/>
          <a:p>
            <a:pPr marL="0" indent="0">
              <a:buNone/>
            </a:pPr>
            <a:r>
              <a:rPr lang="en-US" sz="2000" b="1" dirty="0">
                <a:solidFill>
                  <a:schemeClr val="tx2"/>
                </a:solidFill>
              </a:rPr>
              <a:t>Modules Introduction</a:t>
            </a:r>
            <a:endParaRPr lang="en-US" sz="2000" dirty="0"/>
          </a:p>
        </p:txBody>
      </p:sp>
      <p:sp>
        <p:nvSpPr>
          <p:cNvPr id="27" name="Text 25"/>
          <p:cNvSpPr txBox="1"/>
          <p:nvPr/>
        </p:nvSpPr>
        <p:spPr>
          <a:xfrm>
            <a:off x="8412480" y="5303520"/>
            <a:ext cx="2926080" cy="502920"/>
          </a:xfrm>
          <a:prstGeom prst="rect">
            <a:avLst/>
          </a:prstGeom>
          <a:noFill/>
          <a:ln/>
        </p:spPr>
        <p:txBody>
          <a:bodyPr wrap="square" lIns="0" tIns="0" rIns="0" bIns="0" rtlCol="0" anchor="t"/>
          <a:lstStyle/>
          <a:p>
            <a:pPr marL="0" indent="0">
              <a:buNone/>
            </a:pPr>
            <a:r>
              <a:rPr lang="en-US" sz="1400" dirty="0">
                <a:solidFill>
                  <a:schemeClr val="accent4"/>
                </a:solidFill>
              </a:rPr>
              <a:t>Five modules, from input to output</a:t>
            </a:r>
            <a:endParaRPr lang="en-US" sz="14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400" b="1" dirty="0">
                <a:solidFill>
                  <a:schemeClr val="tx2"/>
                </a:solidFill>
              </a:rPr>
              <a:t>Introduction</a:t>
            </a:r>
            <a:endParaRPr lang="en-US" sz="3400" dirty="0"/>
          </a:p>
        </p:txBody>
      </p:sp>
      <p:sp>
        <p:nvSpPr>
          <p:cNvPr id="3" name="Text 1"/>
          <p:cNvSpPr txBox="1"/>
          <p:nvPr/>
        </p:nvSpPr>
        <p:spPr>
          <a:xfrm>
            <a:off x="548640" y="1463040"/>
            <a:ext cx="6035040" cy="4206240"/>
          </a:xfrm>
          <a:prstGeom prst="rect">
            <a:avLst/>
          </a:prstGeom>
          <a:noFill/>
          <a:ln/>
        </p:spPr>
        <p:txBody>
          <a:bodyPr wrap="square" lIns="0" tIns="0" rIns="0" bIns="0" rtlCol="0" anchor="t"/>
          <a:lstStyle/>
          <a:p>
            <a:pPr marL="342900" indent="-342900">
              <a:spcAft>
                <a:spcPts val="1600"/>
              </a:spcAft>
              <a:buSzPct val="100000"/>
              <a:buChar char="•"/>
            </a:pPr>
            <a:r>
              <a:rPr lang="en-US" sz="2000" dirty="0">
                <a:solidFill>
                  <a:schemeClr val="tx1"/>
                </a:solidFill>
              </a:rPr>
              <a:t>Old photographs are valuable records of people, places and events.</a:t>
            </a:r>
            <a:endParaRPr lang="en-US" sz="2000" dirty="0"/>
          </a:p>
          <a:p>
            <a:pPr marL="342900" indent="-342900">
              <a:spcAft>
                <a:spcPts val="1600"/>
              </a:spcAft>
              <a:buSzPct val="100000"/>
              <a:buChar char="•"/>
            </a:pPr>
            <a:r>
              <a:rPr lang="en-US" sz="2000" dirty="0">
                <a:solidFill>
                  <a:schemeClr val="tx1"/>
                </a:solidFill>
              </a:rPr>
              <a:t>Age, handling and poor storage cause scratches, cracks, stains and spots.</a:t>
            </a:r>
            <a:endParaRPr lang="en-US" sz="2000" dirty="0"/>
          </a:p>
          <a:p>
            <a:pPr marL="342900" indent="-342900">
              <a:spcAft>
                <a:spcPts val="1600"/>
              </a:spcAft>
              <a:buSzPct val="100000"/>
              <a:buChar char="•"/>
            </a:pPr>
            <a:r>
              <a:rPr lang="en-US" sz="2000" dirty="0">
                <a:solidFill>
                  <a:schemeClr val="tx1"/>
                </a:solidFill>
              </a:rPr>
              <a:t>Manual restoration is slow, needs skill and can change good areas of the image.</a:t>
            </a:r>
            <a:endParaRPr lang="en-US" sz="2000" dirty="0"/>
          </a:p>
          <a:p>
            <a:pPr marL="342900" indent="-342900">
              <a:spcAft>
                <a:spcPts val="1600"/>
              </a:spcAft>
              <a:buSzPct val="100000"/>
              <a:buChar char="•"/>
            </a:pPr>
            <a:r>
              <a:rPr lang="en-US" sz="2000" dirty="0">
                <a:solidFill>
                  <a:schemeClr val="tx1"/>
                </a:solidFill>
              </a:rPr>
              <a:t>Computer vision can find the damage automatically and repair only those regions.</a:t>
            </a:r>
            <a:endParaRPr lang="en-US" sz="2000" dirty="0"/>
          </a:p>
        </p:txBody>
      </p:sp>
      <p:sp>
        <p:nvSpPr>
          <p:cNvPr id="4" name="Shape 2"/>
          <p:cNvSpPr/>
          <p:nvPr/>
        </p:nvSpPr>
        <p:spPr>
          <a:xfrm>
            <a:off x="7040880" y="1463040"/>
            <a:ext cx="4572000" cy="4480560"/>
          </a:xfrm>
          <a:prstGeom prst="roundRect">
            <a:avLst>
              <a:gd name="adj" fmla="val 2449"/>
            </a:avLst>
          </a:prstGeom>
          <a:solidFill>
            <a:schemeClr val="bg2"/>
          </a:solidFill>
          <a:ln/>
        </p:spPr>
      </p:sp>
      <p:sp>
        <p:nvSpPr>
          <p:cNvPr id="5" name="Text 3"/>
          <p:cNvSpPr txBox="1"/>
          <p:nvPr/>
        </p:nvSpPr>
        <p:spPr>
          <a:xfrm>
            <a:off x="7315200" y="1691640"/>
            <a:ext cx="4023360" cy="365760"/>
          </a:xfrm>
          <a:prstGeom prst="rect">
            <a:avLst/>
          </a:prstGeom>
          <a:noFill/>
          <a:ln/>
        </p:spPr>
        <p:txBody>
          <a:bodyPr wrap="square" lIns="0" tIns="0" rIns="0" bIns="0" rtlCol="0" anchor="t"/>
          <a:lstStyle/>
          <a:p>
            <a:pPr marL="0" indent="0">
              <a:buNone/>
            </a:pPr>
            <a:r>
              <a:rPr lang="en-US" sz="1800" b="1" dirty="0">
                <a:solidFill>
                  <a:schemeClr val="tx2"/>
                </a:solidFill>
              </a:rPr>
              <a:t>Typical damage in old photographs</a:t>
            </a:r>
            <a:endParaRPr lang="en-US" sz="1800" dirty="0"/>
          </a:p>
        </p:txBody>
      </p:sp>
      <p:sp>
        <p:nvSpPr>
          <p:cNvPr id="6" name="Text 4"/>
          <p:cNvSpPr txBox="1"/>
          <p:nvPr/>
        </p:nvSpPr>
        <p:spPr>
          <a:xfrm>
            <a:off x="7315200" y="2286000"/>
            <a:ext cx="502920" cy="502920"/>
          </a:xfrm>
          <a:prstGeom prst="ellipse">
            <a:avLst/>
          </a:prstGeom>
          <a:solidFill>
            <a:schemeClr val="accent2"/>
          </a:solid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7" name="Text 5"/>
          <p:cNvSpPr txBox="1"/>
          <p:nvPr/>
        </p:nvSpPr>
        <p:spPr>
          <a:xfrm>
            <a:off x="8046720" y="2267712"/>
            <a:ext cx="3291840" cy="320040"/>
          </a:xfrm>
          <a:prstGeom prst="rect">
            <a:avLst/>
          </a:prstGeom>
          <a:noFill/>
          <a:ln/>
        </p:spPr>
        <p:txBody>
          <a:bodyPr wrap="square" lIns="0" tIns="0" rIns="0" bIns="0" rtlCol="0" anchor="t"/>
          <a:lstStyle/>
          <a:p>
            <a:pPr marL="0" indent="0">
              <a:buNone/>
            </a:pPr>
            <a:r>
              <a:rPr lang="en-US" sz="1800" b="1" dirty="0">
                <a:solidFill>
                  <a:schemeClr val="tx1"/>
                </a:solidFill>
              </a:rPr>
              <a:t>Scratches</a:t>
            </a:r>
            <a:endParaRPr lang="en-US" sz="1800" dirty="0"/>
          </a:p>
        </p:txBody>
      </p:sp>
      <p:sp>
        <p:nvSpPr>
          <p:cNvPr id="8" name="Text 6"/>
          <p:cNvSpPr txBox="1"/>
          <p:nvPr/>
        </p:nvSpPr>
        <p:spPr>
          <a:xfrm>
            <a:off x="8046720" y="2587752"/>
            <a:ext cx="3291840" cy="320040"/>
          </a:xfrm>
          <a:prstGeom prst="rect">
            <a:avLst/>
          </a:prstGeom>
          <a:noFill/>
          <a:ln/>
        </p:spPr>
        <p:txBody>
          <a:bodyPr wrap="square" lIns="0" tIns="0" rIns="0" bIns="0" rtlCol="0" anchor="t"/>
          <a:lstStyle/>
          <a:p>
            <a:pPr marL="0" indent="0">
              <a:buNone/>
            </a:pPr>
            <a:r>
              <a:rPr lang="en-US" sz="1400" dirty="0">
                <a:solidFill>
                  <a:schemeClr val="accent4"/>
                </a:solidFill>
              </a:rPr>
              <a:t>Thin lines from handling</a:t>
            </a:r>
            <a:endParaRPr lang="en-US" sz="1400" dirty="0"/>
          </a:p>
        </p:txBody>
      </p:sp>
      <p:sp>
        <p:nvSpPr>
          <p:cNvPr id="9" name="Text 7"/>
          <p:cNvSpPr txBox="1"/>
          <p:nvPr/>
        </p:nvSpPr>
        <p:spPr>
          <a:xfrm>
            <a:off x="7315200" y="3200400"/>
            <a:ext cx="502920" cy="502920"/>
          </a:xfrm>
          <a:prstGeom prst="ellipse">
            <a:avLst/>
          </a:prstGeom>
          <a:solidFill>
            <a:schemeClr val="accent2"/>
          </a:solid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0" name="Text 8"/>
          <p:cNvSpPr txBox="1"/>
          <p:nvPr/>
        </p:nvSpPr>
        <p:spPr>
          <a:xfrm>
            <a:off x="8046720" y="3182112"/>
            <a:ext cx="3291840" cy="320040"/>
          </a:xfrm>
          <a:prstGeom prst="rect">
            <a:avLst/>
          </a:prstGeom>
          <a:noFill/>
          <a:ln/>
        </p:spPr>
        <p:txBody>
          <a:bodyPr wrap="square" lIns="0" tIns="0" rIns="0" bIns="0" rtlCol="0" anchor="t"/>
          <a:lstStyle/>
          <a:p>
            <a:pPr marL="0" indent="0">
              <a:buNone/>
            </a:pPr>
            <a:r>
              <a:rPr lang="en-US" sz="1800" b="1" dirty="0">
                <a:solidFill>
                  <a:schemeClr val="tx1"/>
                </a:solidFill>
              </a:rPr>
              <a:t>Cracks</a:t>
            </a:r>
            <a:endParaRPr lang="en-US" sz="1800" dirty="0"/>
          </a:p>
        </p:txBody>
      </p:sp>
      <p:sp>
        <p:nvSpPr>
          <p:cNvPr id="11" name="Text 9"/>
          <p:cNvSpPr txBox="1"/>
          <p:nvPr/>
        </p:nvSpPr>
        <p:spPr>
          <a:xfrm>
            <a:off x="8046720" y="3502152"/>
            <a:ext cx="3291840" cy="320040"/>
          </a:xfrm>
          <a:prstGeom prst="rect">
            <a:avLst/>
          </a:prstGeom>
          <a:noFill/>
          <a:ln/>
        </p:spPr>
        <p:txBody>
          <a:bodyPr wrap="square" lIns="0" tIns="0" rIns="0" bIns="0" rtlCol="0" anchor="t"/>
          <a:lstStyle/>
          <a:p>
            <a:pPr marL="0" indent="0">
              <a:buNone/>
            </a:pPr>
            <a:r>
              <a:rPr lang="en-US" sz="1400" dirty="0">
                <a:solidFill>
                  <a:schemeClr val="accent4"/>
                </a:solidFill>
              </a:rPr>
              <a:t>Fractures in the emulsion or paper</a:t>
            </a:r>
            <a:endParaRPr lang="en-US" sz="1400" dirty="0"/>
          </a:p>
        </p:txBody>
      </p:sp>
      <p:sp>
        <p:nvSpPr>
          <p:cNvPr id="12" name="Text 10"/>
          <p:cNvSpPr txBox="1"/>
          <p:nvPr/>
        </p:nvSpPr>
        <p:spPr>
          <a:xfrm>
            <a:off x="7315200" y="4114800"/>
            <a:ext cx="502920" cy="502920"/>
          </a:xfrm>
          <a:prstGeom prst="ellipse">
            <a:avLst/>
          </a:prstGeom>
          <a:solidFill>
            <a:schemeClr val="accent2"/>
          </a:solid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3" name="Text 11"/>
          <p:cNvSpPr txBox="1"/>
          <p:nvPr/>
        </p:nvSpPr>
        <p:spPr>
          <a:xfrm>
            <a:off x="8046720" y="4096512"/>
            <a:ext cx="3291840" cy="320040"/>
          </a:xfrm>
          <a:prstGeom prst="rect">
            <a:avLst/>
          </a:prstGeom>
          <a:noFill/>
          <a:ln/>
        </p:spPr>
        <p:txBody>
          <a:bodyPr wrap="square" lIns="0" tIns="0" rIns="0" bIns="0" rtlCol="0" anchor="t"/>
          <a:lstStyle/>
          <a:p>
            <a:pPr marL="0" indent="0">
              <a:buNone/>
            </a:pPr>
            <a:r>
              <a:rPr lang="en-US" sz="1800" b="1" dirty="0">
                <a:solidFill>
                  <a:schemeClr val="tx1"/>
                </a:solidFill>
              </a:rPr>
              <a:t>Stains</a:t>
            </a:r>
            <a:endParaRPr lang="en-US" sz="1800" dirty="0"/>
          </a:p>
        </p:txBody>
      </p:sp>
      <p:sp>
        <p:nvSpPr>
          <p:cNvPr id="14" name="Text 12"/>
          <p:cNvSpPr txBox="1"/>
          <p:nvPr/>
        </p:nvSpPr>
        <p:spPr>
          <a:xfrm>
            <a:off x="8046720" y="4416552"/>
            <a:ext cx="3291840" cy="320040"/>
          </a:xfrm>
          <a:prstGeom prst="rect">
            <a:avLst/>
          </a:prstGeom>
          <a:noFill/>
          <a:ln/>
        </p:spPr>
        <p:txBody>
          <a:bodyPr wrap="square" lIns="0" tIns="0" rIns="0" bIns="0" rtlCol="0" anchor="t"/>
          <a:lstStyle/>
          <a:p>
            <a:pPr marL="0" indent="0">
              <a:buNone/>
            </a:pPr>
            <a:r>
              <a:rPr lang="en-US" sz="1400" dirty="0">
                <a:solidFill>
                  <a:schemeClr val="accent4"/>
                </a:solidFill>
              </a:rPr>
              <a:t>Water, mould or ink marks</a:t>
            </a:r>
            <a:endParaRPr lang="en-US" sz="1400" dirty="0"/>
          </a:p>
        </p:txBody>
      </p:sp>
      <p:sp>
        <p:nvSpPr>
          <p:cNvPr id="15" name="Text 13"/>
          <p:cNvSpPr txBox="1"/>
          <p:nvPr/>
        </p:nvSpPr>
        <p:spPr>
          <a:xfrm>
            <a:off x="7315200" y="5029200"/>
            <a:ext cx="502920" cy="502920"/>
          </a:xfrm>
          <a:prstGeom prst="ellipse">
            <a:avLst/>
          </a:prstGeom>
          <a:solidFill>
            <a:schemeClr val="accent2"/>
          </a:solid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6" name="Text 14"/>
          <p:cNvSpPr txBox="1"/>
          <p:nvPr/>
        </p:nvSpPr>
        <p:spPr>
          <a:xfrm>
            <a:off x="8046720" y="5010912"/>
            <a:ext cx="3291840" cy="320040"/>
          </a:xfrm>
          <a:prstGeom prst="rect">
            <a:avLst/>
          </a:prstGeom>
          <a:noFill/>
          <a:ln/>
        </p:spPr>
        <p:txBody>
          <a:bodyPr wrap="square" lIns="0" tIns="0" rIns="0" bIns="0" rtlCol="0" anchor="t"/>
          <a:lstStyle/>
          <a:p>
            <a:pPr marL="0" indent="0">
              <a:buNone/>
            </a:pPr>
            <a:r>
              <a:rPr lang="en-US" sz="1800" b="1" dirty="0">
                <a:solidFill>
                  <a:schemeClr val="tx1"/>
                </a:solidFill>
              </a:rPr>
              <a:t>Spots</a:t>
            </a:r>
            <a:endParaRPr lang="en-US" sz="1800" dirty="0"/>
          </a:p>
        </p:txBody>
      </p:sp>
      <p:sp>
        <p:nvSpPr>
          <p:cNvPr id="17" name="Text 15"/>
          <p:cNvSpPr txBox="1"/>
          <p:nvPr/>
        </p:nvSpPr>
        <p:spPr>
          <a:xfrm>
            <a:off x="8046720" y="5330952"/>
            <a:ext cx="3291840" cy="320040"/>
          </a:xfrm>
          <a:prstGeom prst="rect">
            <a:avLst/>
          </a:prstGeom>
          <a:noFill/>
          <a:ln/>
        </p:spPr>
        <p:txBody>
          <a:bodyPr wrap="square" lIns="0" tIns="0" rIns="0" bIns="0" rtlCol="0" anchor="t"/>
          <a:lstStyle/>
          <a:p>
            <a:pPr marL="0" indent="0">
              <a:buNone/>
            </a:pPr>
            <a:r>
              <a:rPr lang="en-US" sz="1400" dirty="0">
                <a:solidFill>
                  <a:schemeClr val="accent4"/>
                </a:solidFill>
              </a:rPr>
              <a:t>Dust, fading and blemishes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400" b="1" dirty="0">
                <a:solidFill>
                  <a:schemeClr val="tx2"/>
                </a:solidFill>
              </a:rPr>
              <a:t>Literature Review</a:t>
            </a:r>
            <a:endParaRPr lang="en-US" sz="3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3749040"/>
        </p:xfrm>
        <a:graphic>
          <a:graphicData uri="http://schemas.openxmlformats.org/drawingml/2006/table">
            <a:tbl>
              <a:tblPr/>
              <a:tblGrid>
                <a:gridCol w="338328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457200">
                <a:tc>
                  <a:txBody>
                    <a:bodyPr/>
                    <a:lstStyle/>
                    <a:p>
                      <a:pPr marL="0" indent="0">
                        <a:buNone/>
                      </a:pPr>
                      <a:r>
                        <a:rPr lang="en-US" sz="1400" b="1" dirty="0">
                          <a:solidFill>
                            <a:schemeClr val="bg1"/>
                          </a:solidFill>
                        </a:rPr>
                        <a:t>Work</a:t>
                      </a:r>
                      <a:endParaRPr lang="en-US" sz="1400" dirty="0"/>
                    </a:p>
                  </a:txBody>
                  <a:tcPr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Approach</a:t>
                      </a:r>
                      <a:endParaRPr lang="en-US" sz="1400" dirty="0"/>
                    </a:p>
                  </a:txBody>
                  <a:tcPr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Relevance to this project</a:t>
                      </a:r>
                      <a:endParaRPr lang="en-US" sz="1400" dirty="0"/>
                    </a:p>
                  </a:txBody>
                  <a:tcPr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58368">
                <a:tc>
                  <a:txBody>
                    <a:bodyPr/>
                    <a:lstStyle/>
                    <a:p>
                      <a:pPr marL="0" indent="0">
                        <a:buNone/>
                      </a:pPr>
                      <a:r>
                        <a:rPr lang="en-US" sz="1400" b="1" dirty="0">
                          <a:solidFill>
                            <a:schemeClr val="tx1"/>
                          </a:solidFill>
                        </a:rPr>
                        <a:t>Bertalmio et al. (2001)</a:t>
                      </a:r>
                      <a:endParaRPr lang="en-US" sz="1400" dirty="0"/>
                    </a:p>
                    <a:p>
                      <a:pPr marL="0" indent="0">
                        <a:buNone/>
                      </a:pPr>
                      <a:r>
                        <a:rPr lang="en-US" sz="1400" dirty="0">
                          <a:solidFill>
                            <a:schemeClr val="tx1"/>
                          </a:solidFill>
                        </a:rPr>
                        <a:t>Navier-Stokes inpainting</a:t>
                      </a:r>
                      <a:endParaRPr lang="en-US" sz="1400" dirty="0"/>
                    </a:p>
                  </a:txBody>
                  <a:tcPr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Spreads image structure into holes using fluid-dynamics ideas</a:t>
                      </a:r>
                      <a:endParaRPr lang="en-US" sz="1400" dirty="0"/>
                    </a:p>
                  </a:txBody>
                  <a:tcPr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OpenCV Navier-Stokes repair option</a:t>
                      </a:r>
                      <a:endParaRPr lang="en-US" sz="1400" dirty="0"/>
                    </a:p>
                  </a:txBody>
                  <a:tcPr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1"/>
                  </a:ext>
                </a:extLst>
              </a:tr>
              <a:tr h="658368">
                <a:tc>
                  <a:txBody>
                    <a:bodyPr/>
                    <a:lstStyle/>
                    <a:p>
                      <a:pPr marL="0" indent="0">
                        <a:buNone/>
                      </a:pPr>
                      <a:r>
                        <a:rPr lang="en-US" sz="1400" b="1" dirty="0">
                          <a:solidFill>
                            <a:schemeClr val="tx1"/>
                          </a:solidFill>
                        </a:rPr>
                        <a:t>Telea (2004)</a:t>
                      </a:r>
                      <a:endParaRPr lang="en-US" sz="1400" dirty="0"/>
                    </a:p>
                    <a:p>
                      <a:pPr marL="0" indent="0">
                        <a:buNone/>
                      </a:pPr>
                      <a:r>
                        <a:rPr lang="en-US" sz="1400" dirty="0">
                          <a:solidFill>
                            <a:schemeClr val="tx1"/>
                          </a:solidFill>
                        </a:rPr>
                        <a:t>Fast marching inpainting</a:t>
                      </a:r>
                      <a:endParaRPr lang="en-US" sz="1400" dirty="0"/>
                    </a:p>
                  </a:txBody>
                  <a:tcPr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Fills pixels in order of distance from the known region</a:t>
                      </a:r>
                      <a:endParaRPr lang="en-US" sz="1400" dirty="0"/>
                    </a:p>
                  </a:txBody>
                  <a:tcPr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Fast OpenCV Telea repair option</a:t>
                      </a:r>
                      <a:endParaRPr lang="en-US" sz="1400" dirty="0"/>
                    </a:p>
                  </a:txBody>
                  <a:tcPr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2"/>
                  </a:ext>
                </a:extLst>
              </a:tr>
              <a:tr h="658368">
                <a:tc>
                  <a:txBody>
                    <a:bodyPr/>
                    <a:lstStyle/>
                    <a:p>
                      <a:pPr marL="0" indent="0">
                        <a:buNone/>
                      </a:pPr>
                      <a:r>
                        <a:rPr lang="en-US" sz="1400" b="1" dirty="0">
                          <a:solidFill>
                            <a:schemeClr val="tx1"/>
                          </a:solidFill>
                        </a:rPr>
                        <a:t>Criminisi et al. (2004)</a:t>
                      </a:r>
                      <a:endParaRPr lang="en-US" sz="1400" dirty="0"/>
                    </a:p>
                    <a:p>
                      <a:pPr marL="0" indent="0">
                        <a:buNone/>
                      </a:pPr>
                      <a:r>
                        <a:rPr lang="en-US" sz="1400" dirty="0">
                          <a:solidFill>
                            <a:schemeClr val="tx1"/>
                          </a:solidFill>
                        </a:rPr>
                        <a:t>Exemplar-based inpainting</a:t>
                      </a:r>
                      <a:endParaRPr lang="en-US" sz="1400" dirty="0"/>
                    </a:p>
                  </a:txBody>
                  <a:tcPr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Copies matching patches to fill larger regions with texture</a:t>
                      </a:r>
                      <a:endParaRPr lang="en-US" sz="1400" dirty="0"/>
                    </a:p>
                  </a:txBody>
                  <a:tcPr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Useful for wider damaged areas</a:t>
                      </a:r>
                      <a:endParaRPr lang="en-US" sz="1400" dirty="0"/>
                    </a:p>
                  </a:txBody>
                  <a:tcPr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3"/>
                  </a:ext>
                </a:extLst>
              </a:tr>
              <a:tr h="658368">
                <a:tc>
                  <a:txBody>
                    <a:bodyPr/>
                    <a:lstStyle/>
                    <a:p>
                      <a:pPr marL="0" indent="0">
                        <a:buNone/>
                      </a:pPr>
                      <a:r>
                        <a:rPr lang="en-US" sz="1400" b="1" dirty="0">
                          <a:solidFill>
                            <a:schemeClr val="tx1"/>
                          </a:solidFill>
                        </a:rPr>
                        <a:t>Ronneberger et al. (2015)</a:t>
                      </a:r>
                      <a:endParaRPr lang="en-US" sz="1400" dirty="0"/>
                    </a:p>
                    <a:p>
                      <a:pPr marL="0" indent="0">
                        <a:buNone/>
                      </a:pPr>
                      <a:r>
                        <a:rPr lang="en-US" sz="1400" dirty="0">
                          <a:solidFill>
                            <a:schemeClr val="tx1"/>
                          </a:solidFill>
                        </a:rPr>
                        <a:t>U-Net</a:t>
                      </a:r>
                      <a:endParaRPr lang="en-US" sz="1400" dirty="0"/>
                    </a:p>
                  </a:txBody>
                  <a:tcPr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Encoder-decoder network for pixel-wise segmentation</a:t>
                      </a:r>
                      <a:endParaRPr lang="en-US" sz="1400" dirty="0"/>
                    </a:p>
                  </a:txBody>
                  <a:tcPr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Can learn damage masks</a:t>
                      </a:r>
                      <a:endParaRPr lang="en-US" sz="1400" dirty="0"/>
                    </a:p>
                  </a:txBody>
                  <a:tcPr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4"/>
                  </a:ext>
                </a:extLst>
              </a:tr>
              <a:tr h="658368">
                <a:tc>
                  <a:txBody>
                    <a:bodyPr/>
                    <a:lstStyle/>
                    <a:p>
                      <a:pPr marL="0" indent="0">
                        <a:buNone/>
                      </a:pPr>
                      <a:r>
                        <a:rPr lang="en-US" sz="1400" b="1" dirty="0">
                          <a:solidFill>
                            <a:schemeClr val="tx1"/>
                          </a:solidFill>
                        </a:rPr>
                        <a:t>Wan et al. (2020)</a:t>
                      </a:r>
                      <a:endParaRPr lang="en-US" sz="1400" dirty="0"/>
                    </a:p>
                    <a:p>
                      <a:pPr marL="0" indent="0">
                        <a:buNone/>
                      </a:pPr>
                      <a:r>
                        <a:rPr lang="en-US" sz="1400" dirty="0">
                          <a:solidFill>
                            <a:schemeClr val="tx1"/>
                          </a:solidFill>
                        </a:rPr>
                        <a:t>Bringing Old Photos Back to Life</a:t>
                      </a:r>
                      <a:endParaRPr lang="en-US" sz="1400" dirty="0"/>
                    </a:p>
                  </a:txBody>
                  <a:tcPr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Deep learning restoration of degraded old photographs</a:t>
                      </a:r>
                      <a:endParaRPr lang="en-US" sz="1400" dirty="0"/>
                    </a:p>
                  </a:txBody>
                  <a:tcPr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Shows the learning-based route</a:t>
                      </a:r>
                      <a:endParaRPr lang="en-US" sz="1400" dirty="0"/>
                    </a:p>
                  </a:txBody>
                  <a:tcPr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 name="Shape 1"/>
          <p:cNvSpPr/>
          <p:nvPr/>
        </p:nvSpPr>
        <p:spPr>
          <a:xfrm>
            <a:off x="548640" y="5440680"/>
            <a:ext cx="11064240" cy="731520"/>
          </a:xfrm>
          <a:prstGeom prst="roundRect">
            <a:avLst>
              <a:gd name="adj" fmla="val 15000"/>
            </a:avLst>
          </a:prstGeom>
          <a:solidFill>
            <a:schemeClr val="bg2"/>
          </a:solidFill>
          <a:ln/>
        </p:spPr>
      </p:sp>
      <p:sp>
        <p:nvSpPr>
          <p:cNvPr id="5" name="Text 2"/>
          <p:cNvSpPr txBox="1"/>
          <p:nvPr/>
        </p:nvSpPr>
        <p:spPr>
          <a:xfrm>
            <a:off x="822960" y="5440680"/>
            <a:ext cx="10515600" cy="731520"/>
          </a:xfrm>
          <a:prstGeom prst="rect">
            <a:avLst/>
          </a:prstGeom>
          <a:noFill/>
          <a:ln/>
        </p:spPr>
        <p:txBody>
          <a:bodyPr wrap="square" lIns="0" tIns="0" rIns="0" bIns="0" rtlCol="0" anchor="ctr"/>
          <a:lstStyle/>
          <a:p>
            <a:pPr marL="0" indent="0">
              <a:buNone/>
            </a:pPr>
            <a:r>
              <a:rPr lang="en-US" sz="1600" b="1" dirty="0">
                <a:solidFill>
                  <a:schemeClr val="accent1"/>
                </a:solidFill>
              </a:rPr>
              <a:t>This project: detect damage first, then restore only the damaged regions and keep the original pixels everywhere else.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400" b="1" dirty="0">
                <a:solidFill>
                  <a:schemeClr val="tx2"/>
                </a:solidFill>
              </a:rPr>
              <a:t>Problem Statement</a:t>
            </a:r>
            <a:endParaRPr lang="en-US" sz="3400" dirty="0"/>
          </a:p>
        </p:txBody>
      </p:sp>
      <p:sp>
        <p:nvSpPr>
          <p:cNvPr id="3" name="Shape 1"/>
          <p:cNvSpPr/>
          <p:nvPr/>
        </p:nvSpPr>
        <p:spPr>
          <a:xfrm>
            <a:off x="548640" y="1463040"/>
            <a:ext cx="5669280" cy="4480560"/>
          </a:xfrm>
          <a:prstGeom prst="roundRect">
            <a:avLst>
              <a:gd name="adj" fmla="val 2449"/>
            </a:avLst>
          </a:prstGeom>
          <a:solidFill>
            <a:schemeClr val="tx2"/>
          </a:solidFill>
          <a:ln/>
        </p:spPr>
      </p:sp>
      <p:sp>
        <p:nvSpPr>
          <p:cNvPr id="4" name="Text 2"/>
          <p:cNvSpPr txBox="1"/>
          <p:nvPr/>
        </p:nvSpPr>
        <p:spPr>
          <a:xfrm>
            <a:off x="914400" y="1783080"/>
            <a:ext cx="4937760" cy="274320"/>
          </a:xfrm>
          <a:prstGeom prst="rect">
            <a:avLst/>
          </a:prstGeom>
          <a:noFill/>
          <a:ln/>
        </p:spPr>
        <p:txBody>
          <a:bodyPr wrap="square" lIns="0" tIns="0" rIns="0" bIns="0" rtlCol="0" anchor="t"/>
          <a:lstStyle/>
          <a:p>
            <a:pPr marL="0" indent="0">
              <a:buNone/>
            </a:pPr>
            <a:r>
              <a:rPr lang="en-US" sz="1400" b="1" dirty="0">
                <a:solidFill>
                  <a:schemeClr val="accent3"/>
                </a:solidFill>
              </a:rPr>
              <a:t>THE PROBLEM</a:t>
            </a:r>
            <a:endParaRPr lang="en-US" sz="1400" dirty="0"/>
          </a:p>
        </p:txBody>
      </p:sp>
      <p:sp>
        <p:nvSpPr>
          <p:cNvPr id="5" name="Text 3"/>
          <p:cNvSpPr txBox="1"/>
          <p:nvPr/>
        </p:nvSpPr>
        <p:spPr>
          <a:xfrm>
            <a:off x="914400" y="2240280"/>
            <a:ext cx="4937760" cy="3474720"/>
          </a:xfrm>
          <a:prstGeom prst="rect">
            <a:avLst/>
          </a:prstGeom>
          <a:noFill/>
          <a:ln/>
        </p:spPr>
        <p:txBody>
          <a:bodyPr wrap="square" lIns="0" tIns="0" rIns="0" bIns="0" rtlCol="0" anchor="t"/>
          <a:lstStyle/>
          <a:p>
            <a:pPr marL="0" indent="0">
              <a:buNone/>
            </a:pPr>
            <a:r>
              <a:rPr lang="en-US" sz="2000" dirty="0">
                <a:solidFill>
                  <a:schemeClr val="bg1"/>
                </a:solidFill>
              </a:rPr>
              <a:t>Historical photographs fade, crack and stain over time. Manual restoration is slow and subjective, and common filters change undamaged areas too. An automated system is needed to detect damage, locate it precisely and repair only the damaged regions while preserving the original image.</a:t>
            </a:r>
            <a:endParaRPr lang="en-US" sz="2000" dirty="0"/>
          </a:p>
        </p:txBody>
      </p:sp>
      <p:sp>
        <p:nvSpPr>
          <p:cNvPr id="6" name="Shape 4"/>
          <p:cNvSpPr/>
          <p:nvPr/>
        </p:nvSpPr>
        <p:spPr>
          <a:xfrm>
            <a:off x="6583680" y="1463040"/>
            <a:ext cx="5029200" cy="1335024"/>
          </a:xfrm>
          <a:prstGeom prst="roundRect">
            <a:avLst>
              <a:gd name="adj" fmla="val 8219"/>
            </a:avLst>
          </a:prstGeom>
          <a:solidFill>
            <a:schemeClr val="bg2"/>
          </a:solidFill>
          <a:ln/>
        </p:spPr>
      </p:sp>
      <p:sp>
        <p:nvSpPr>
          <p:cNvPr id="7" name="Text 5"/>
          <p:cNvSpPr txBox="1"/>
          <p:nvPr/>
        </p:nvSpPr>
        <p:spPr>
          <a:xfrm>
            <a:off x="6812280" y="1828800"/>
            <a:ext cx="594360" cy="594360"/>
          </a:xfrm>
          <a:prstGeom prst="ellipse">
            <a:avLst/>
          </a:prstGeom>
          <a:solidFill>
            <a:schemeClr val="accent1"/>
          </a:solidFill>
          <a:ln/>
        </p:spPr>
        <p:txBody>
          <a:bodyPr wrap="square" lIns="0" tIns="0" rIns="0" bIns="0" rtlCol="0" anchor="ctr"/>
          <a:lstStyle/>
          <a:p>
            <a:pPr marL="0" indent="0" algn="ctr">
              <a:buNone/>
            </a:pPr>
            <a:r>
              <a:rPr lang="en-US" sz="2000" b="1" dirty="0">
                <a:solidFill>
                  <a:schemeClr val="bg1"/>
                </a:solidFill>
              </a:rPr>
              <a:t>1</a:t>
            </a:r>
            <a:endParaRPr lang="en-US" sz="2000" dirty="0"/>
          </a:p>
        </p:txBody>
      </p:sp>
      <p:sp>
        <p:nvSpPr>
          <p:cNvPr id="8" name="Text 6"/>
          <p:cNvSpPr txBox="1"/>
          <p:nvPr/>
        </p:nvSpPr>
        <p:spPr>
          <a:xfrm>
            <a:off x="7635240" y="1600200"/>
            <a:ext cx="3749040" cy="320040"/>
          </a:xfrm>
          <a:prstGeom prst="rect">
            <a:avLst/>
          </a:prstGeom>
          <a:noFill/>
          <a:ln/>
        </p:spPr>
        <p:txBody>
          <a:bodyPr wrap="square" lIns="0" tIns="0" rIns="0" bIns="0" rtlCol="0" anchor="t"/>
          <a:lstStyle/>
          <a:p>
            <a:pPr marL="0" indent="0">
              <a:buNone/>
            </a:pPr>
            <a:r>
              <a:rPr lang="en-US" sz="1700" b="1" dirty="0">
                <a:solidFill>
                  <a:schemeClr val="tx2"/>
                </a:solidFill>
              </a:rPr>
              <a:t>Slow manual work</a:t>
            </a:r>
            <a:endParaRPr lang="en-US" sz="1700" dirty="0"/>
          </a:p>
        </p:txBody>
      </p:sp>
      <p:sp>
        <p:nvSpPr>
          <p:cNvPr id="9" name="Text 7"/>
          <p:cNvSpPr txBox="1"/>
          <p:nvPr/>
        </p:nvSpPr>
        <p:spPr>
          <a:xfrm>
            <a:off x="7635240" y="1938528"/>
            <a:ext cx="3749040" cy="777240"/>
          </a:xfrm>
          <a:prstGeom prst="rect">
            <a:avLst/>
          </a:prstGeom>
          <a:noFill/>
          <a:ln/>
        </p:spPr>
        <p:txBody>
          <a:bodyPr wrap="square" lIns="0" tIns="0" rIns="0" bIns="0" rtlCol="0" anchor="t"/>
          <a:lstStyle/>
          <a:p>
            <a:pPr marL="0" indent="0">
              <a:buNone/>
            </a:pPr>
            <a:r>
              <a:rPr lang="en-US" sz="1400" dirty="0">
                <a:solidFill>
                  <a:schemeClr val="tx1"/>
                </a:solidFill>
              </a:rPr>
              <a:t>Editors retouch each photograph by hand, so results vary and large collections are hard to handle.</a:t>
            </a:r>
            <a:endParaRPr lang="en-US" sz="1400" dirty="0"/>
          </a:p>
        </p:txBody>
      </p:sp>
      <p:sp>
        <p:nvSpPr>
          <p:cNvPr id="10" name="Shape 8"/>
          <p:cNvSpPr/>
          <p:nvPr/>
        </p:nvSpPr>
        <p:spPr>
          <a:xfrm>
            <a:off x="6583680" y="3035808"/>
            <a:ext cx="5029200" cy="1335024"/>
          </a:xfrm>
          <a:prstGeom prst="roundRect">
            <a:avLst>
              <a:gd name="adj" fmla="val 8219"/>
            </a:avLst>
          </a:prstGeom>
          <a:solidFill>
            <a:schemeClr val="bg2"/>
          </a:solidFill>
          <a:ln/>
        </p:spPr>
      </p:sp>
      <p:sp>
        <p:nvSpPr>
          <p:cNvPr id="11" name="Text 9"/>
          <p:cNvSpPr txBox="1"/>
          <p:nvPr/>
        </p:nvSpPr>
        <p:spPr>
          <a:xfrm>
            <a:off x="6812280" y="3401568"/>
            <a:ext cx="594360" cy="594360"/>
          </a:xfrm>
          <a:prstGeom prst="ellipse">
            <a:avLst/>
          </a:prstGeom>
          <a:solidFill>
            <a:schemeClr val="accent1"/>
          </a:solidFill>
          <a:ln/>
        </p:spPr>
        <p:txBody>
          <a:bodyPr wrap="square" lIns="0" tIns="0" rIns="0" bIns="0" rtlCol="0" anchor="ctr"/>
          <a:lstStyle/>
          <a:p>
            <a:pPr marL="0" indent="0" algn="ctr">
              <a:buNone/>
            </a:pPr>
            <a:r>
              <a:rPr lang="en-US" sz="2000" b="1" dirty="0">
                <a:solidFill>
                  <a:schemeClr val="bg1"/>
                </a:solidFill>
              </a:rPr>
              <a:t>2</a:t>
            </a:r>
            <a:endParaRPr lang="en-US" sz="2000" dirty="0"/>
          </a:p>
        </p:txBody>
      </p:sp>
      <p:sp>
        <p:nvSpPr>
          <p:cNvPr id="12" name="Text 10"/>
          <p:cNvSpPr txBox="1"/>
          <p:nvPr/>
        </p:nvSpPr>
        <p:spPr>
          <a:xfrm>
            <a:off x="7635240" y="3172968"/>
            <a:ext cx="3749040" cy="320040"/>
          </a:xfrm>
          <a:prstGeom prst="rect">
            <a:avLst/>
          </a:prstGeom>
          <a:noFill/>
          <a:ln/>
        </p:spPr>
        <p:txBody>
          <a:bodyPr wrap="square" lIns="0" tIns="0" rIns="0" bIns="0" rtlCol="0" anchor="t"/>
          <a:lstStyle/>
          <a:p>
            <a:pPr marL="0" indent="0">
              <a:buNone/>
            </a:pPr>
            <a:r>
              <a:rPr lang="en-US" sz="1700" b="1" dirty="0">
                <a:solidFill>
                  <a:schemeClr val="tx2"/>
                </a:solidFill>
              </a:rPr>
              <a:t>Whole-image filtering</a:t>
            </a:r>
            <a:endParaRPr lang="en-US" sz="1700" dirty="0"/>
          </a:p>
        </p:txBody>
      </p:sp>
      <p:sp>
        <p:nvSpPr>
          <p:cNvPr id="13" name="Text 11"/>
          <p:cNvSpPr txBox="1"/>
          <p:nvPr/>
        </p:nvSpPr>
        <p:spPr>
          <a:xfrm>
            <a:off x="7635240" y="3511296"/>
            <a:ext cx="3749040" cy="777240"/>
          </a:xfrm>
          <a:prstGeom prst="rect">
            <a:avLst/>
          </a:prstGeom>
          <a:noFill/>
          <a:ln/>
        </p:spPr>
        <p:txBody>
          <a:bodyPr wrap="square" lIns="0" tIns="0" rIns="0" bIns="0" rtlCol="0" anchor="t"/>
          <a:lstStyle/>
          <a:p>
            <a:pPr marL="0" indent="0">
              <a:buNone/>
            </a:pPr>
            <a:r>
              <a:rPr lang="en-US" sz="1400" dirty="0">
                <a:solidFill>
                  <a:schemeClr val="tx1"/>
                </a:solidFill>
              </a:rPr>
              <a:t>Common filters smooth the entire photograph and can blur or alter undamaged detail.</a:t>
            </a:r>
            <a:endParaRPr lang="en-US" sz="1400" dirty="0"/>
          </a:p>
        </p:txBody>
      </p:sp>
      <p:sp>
        <p:nvSpPr>
          <p:cNvPr id="14" name="Shape 12"/>
          <p:cNvSpPr/>
          <p:nvPr/>
        </p:nvSpPr>
        <p:spPr>
          <a:xfrm>
            <a:off x="6583680" y="4608576"/>
            <a:ext cx="5029200" cy="1335024"/>
          </a:xfrm>
          <a:prstGeom prst="roundRect">
            <a:avLst>
              <a:gd name="adj" fmla="val 8219"/>
            </a:avLst>
          </a:prstGeom>
          <a:solidFill>
            <a:schemeClr val="bg2"/>
          </a:solidFill>
          <a:ln/>
        </p:spPr>
      </p:sp>
      <p:sp>
        <p:nvSpPr>
          <p:cNvPr id="15" name="Text 13"/>
          <p:cNvSpPr txBox="1"/>
          <p:nvPr/>
        </p:nvSpPr>
        <p:spPr>
          <a:xfrm>
            <a:off x="6812280" y="4974336"/>
            <a:ext cx="594360" cy="594360"/>
          </a:xfrm>
          <a:prstGeom prst="ellipse">
            <a:avLst/>
          </a:prstGeom>
          <a:solidFill>
            <a:schemeClr val="accent1"/>
          </a:solid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16" name="Text 14"/>
          <p:cNvSpPr txBox="1"/>
          <p:nvPr/>
        </p:nvSpPr>
        <p:spPr>
          <a:xfrm>
            <a:off x="7635240" y="4745736"/>
            <a:ext cx="3749040" cy="320040"/>
          </a:xfrm>
          <a:prstGeom prst="rect">
            <a:avLst/>
          </a:prstGeom>
          <a:noFill/>
          <a:ln/>
        </p:spPr>
        <p:txBody>
          <a:bodyPr wrap="square" lIns="0" tIns="0" rIns="0" bIns="0" rtlCol="0" anchor="t"/>
          <a:lstStyle/>
          <a:p>
            <a:pPr marL="0" indent="0">
              <a:buNone/>
            </a:pPr>
            <a:r>
              <a:rPr lang="en-US" sz="1700" b="1" dirty="0">
                <a:solidFill>
                  <a:schemeClr val="tx2"/>
                </a:solidFill>
              </a:rPr>
              <a:t>No clear quality measure</a:t>
            </a:r>
            <a:endParaRPr lang="en-US" sz="1700" dirty="0"/>
          </a:p>
        </p:txBody>
      </p:sp>
      <p:sp>
        <p:nvSpPr>
          <p:cNvPr id="17" name="Text 15"/>
          <p:cNvSpPr txBox="1"/>
          <p:nvPr/>
        </p:nvSpPr>
        <p:spPr>
          <a:xfrm>
            <a:off x="7635240" y="5084064"/>
            <a:ext cx="3749040" cy="777240"/>
          </a:xfrm>
          <a:prstGeom prst="rect">
            <a:avLst/>
          </a:prstGeom>
          <a:noFill/>
          <a:ln/>
        </p:spPr>
        <p:txBody>
          <a:bodyPr wrap="square" lIns="0" tIns="0" rIns="0" bIns="0" rtlCol="0" anchor="t"/>
          <a:lstStyle/>
          <a:p>
            <a:pPr marL="0" indent="0">
              <a:buNone/>
            </a:pPr>
            <a:r>
              <a:rPr lang="en-US" sz="1400" dirty="0">
                <a:solidFill>
                  <a:schemeClr val="tx1"/>
                </a:solidFill>
              </a:rPr>
              <a:t>Without damage masks and metrics such as PSNR and SSIM, restoration quality is hard to judge.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400" b="1" dirty="0">
                <a:solidFill>
                  <a:schemeClr val="tx2"/>
                </a:solidFill>
              </a:rPr>
              <a:t>Objectives</a:t>
            </a:r>
            <a:endParaRPr lang="en-US" sz="3400" dirty="0"/>
          </a:p>
        </p:txBody>
      </p:sp>
      <p:sp>
        <p:nvSpPr>
          <p:cNvPr id="3" name="Shape 1"/>
          <p:cNvSpPr/>
          <p:nvPr/>
        </p:nvSpPr>
        <p:spPr>
          <a:xfrm>
            <a:off x="548640" y="1417320"/>
            <a:ext cx="11064240" cy="822960"/>
          </a:xfrm>
          <a:prstGeom prst="roundRect">
            <a:avLst>
              <a:gd name="adj" fmla="val 13333"/>
            </a:avLst>
          </a:prstGeom>
          <a:solidFill>
            <a:schemeClr val="bg2"/>
          </a:solidFill>
          <a:ln/>
        </p:spPr>
      </p:sp>
      <p:sp>
        <p:nvSpPr>
          <p:cNvPr id="4" name="Text 2"/>
          <p:cNvSpPr txBox="1"/>
          <p:nvPr/>
        </p:nvSpPr>
        <p:spPr>
          <a:xfrm>
            <a:off x="777240" y="1554480"/>
            <a:ext cx="548640" cy="54864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5" name="Text 3"/>
          <p:cNvSpPr txBox="1"/>
          <p:nvPr/>
        </p:nvSpPr>
        <p:spPr>
          <a:xfrm>
            <a:off x="1600200" y="1417320"/>
            <a:ext cx="8138160" cy="822960"/>
          </a:xfrm>
          <a:prstGeom prst="rect">
            <a:avLst/>
          </a:prstGeom>
          <a:noFill/>
          <a:ln/>
        </p:spPr>
        <p:txBody>
          <a:bodyPr wrap="square" lIns="0" tIns="0" rIns="0" bIns="0" rtlCol="0" anchor="ctr"/>
          <a:lstStyle/>
          <a:p>
            <a:pPr marL="0" indent="0">
              <a:buNone/>
            </a:pPr>
            <a:r>
              <a:rPr lang="en-US" sz="1800" dirty="0">
                <a:solidFill>
                  <a:schemeClr val="tx1"/>
                </a:solidFill>
              </a:rPr>
              <a:t>Prepare historical photographs by reducing noise and standardising image quality</a:t>
            </a:r>
            <a:endParaRPr lang="en-US" sz="1800" dirty="0"/>
          </a:p>
        </p:txBody>
      </p:sp>
      <p:sp>
        <p:nvSpPr>
          <p:cNvPr id="7" name="Shape 5"/>
          <p:cNvSpPr/>
          <p:nvPr/>
        </p:nvSpPr>
        <p:spPr>
          <a:xfrm>
            <a:off x="548640" y="2350008"/>
            <a:ext cx="11064240" cy="822960"/>
          </a:xfrm>
          <a:prstGeom prst="roundRect">
            <a:avLst>
              <a:gd name="adj" fmla="val 13333"/>
            </a:avLst>
          </a:prstGeom>
          <a:solidFill>
            <a:schemeClr val="bg2"/>
          </a:solidFill>
          <a:ln/>
        </p:spPr>
      </p:sp>
      <p:sp>
        <p:nvSpPr>
          <p:cNvPr id="8" name="Text 6"/>
          <p:cNvSpPr txBox="1"/>
          <p:nvPr/>
        </p:nvSpPr>
        <p:spPr>
          <a:xfrm>
            <a:off x="777240" y="2487168"/>
            <a:ext cx="548640" cy="54864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9" name="Text 7"/>
          <p:cNvSpPr txBox="1"/>
          <p:nvPr/>
        </p:nvSpPr>
        <p:spPr>
          <a:xfrm>
            <a:off x="1600200" y="2350008"/>
            <a:ext cx="8138160" cy="822960"/>
          </a:xfrm>
          <a:prstGeom prst="rect">
            <a:avLst/>
          </a:prstGeom>
          <a:noFill/>
          <a:ln/>
        </p:spPr>
        <p:txBody>
          <a:bodyPr wrap="square" lIns="0" tIns="0" rIns="0" bIns="0" rtlCol="0" anchor="ctr"/>
          <a:lstStyle/>
          <a:p>
            <a:pPr marL="0" indent="0">
              <a:buNone/>
            </a:pPr>
            <a:r>
              <a:rPr lang="en-US" sz="1800" dirty="0">
                <a:solidFill>
                  <a:schemeClr val="tx1"/>
                </a:solidFill>
              </a:rPr>
              <a:t>Detect scratches, cracks, stains and spots automatically as a damage mask</a:t>
            </a:r>
            <a:endParaRPr lang="en-US" sz="1800" dirty="0"/>
          </a:p>
        </p:txBody>
      </p:sp>
      <p:sp>
        <p:nvSpPr>
          <p:cNvPr id="11" name="Shape 9"/>
          <p:cNvSpPr/>
          <p:nvPr/>
        </p:nvSpPr>
        <p:spPr>
          <a:xfrm>
            <a:off x="548640" y="3282696"/>
            <a:ext cx="11064240" cy="822960"/>
          </a:xfrm>
          <a:prstGeom prst="roundRect">
            <a:avLst>
              <a:gd name="adj" fmla="val 13333"/>
            </a:avLst>
          </a:prstGeom>
          <a:solidFill>
            <a:schemeClr val="bg2"/>
          </a:solidFill>
          <a:ln/>
        </p:spPr>
      </p:sp>
      <p:sp>
        <p:nvSpPr>
          <p:cNvPr id="12" name="Text 10"/>
          <p:cNvSpPr txBox="1"/>
          <p:nvPr/>
        </p:nvSpPr>
        <p:spPr>
          <a:xfrm>
            <a:off x="777240" y="3419856"/>
            <a:ext cx="548640" cy="54864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3" name="Text 11"/>
          <p:cNvSpPr txBox="1"/>
          <p:nvPr/>
        </p:nvSpPr>
        <p:spPr>
          <a:xfrm>
            <a:off x="1600200" y="3282696"/>
            <a:ext cx="8138160" cy="822960"/>
          </a:xfrm>
          <a:prstGeom prst="rect">
            <a:avLst/>
          </a:prstGeom>
          <a:noFill/>
          <a:ln/>
        </p:spPr>
        <p:txBody>
          <a:bodyPr wrap="square" lIns="0" tIns="0" rIns="0" bIns="0" rtlCol="0" anchor="ctr"/>
          <a:lstStyle/>
          <a:p>
            <a:pPr marL="0" indent="0">
              <a:buNone/>
            </a:pPr>
            <a:r>
              <a:rPr lang="en-US" sz="1800" dirty="0">
                <a:solidFill>
                  <a:schemeClr val="tx1"/>
                </a:solidFill>
              </a:rPr>
              <a:t>Classify the damage and find its location, shape and size</a:t>
            </a:r>
            <a:endParaRPr lang="en-US" sz="1800" dirty="0"/>
          </a:p>
        </p:txBody>
      </p:sp>
      <p:sp>
        <p:nvSpPr>
          <p:cNvPr id="15" name="Shape 13"/>
          <p:cNvSpPr/>
          <p:nvPr/>
        </p:nvSpPr>
        <p:spPr>
          <a:xfrm>
            <a:off x="548640" y="4215384"/>
            <a:ext cx="11064240" cy="822960"/>
          </a:xfrm>
          <a:prstGeom prst="roundRect">
            <a:avLst>
              <a:gd name="adj" fmla="val 13333"/>
            </a:avLst>
          </a:prstGeom>
          <a:solidFill>
            <a:schemeClr val="bg2"/>
          </a:solidFill>
          <a:ln/>
        </p:spPr>
      </p:sp>
      <p:sp>
        <p:nvSpPr>
          <p:cNvPr id="16" name="Text 14"/>
          <p:cNvSpPr txBox="1"/>
          <p:nvPr/>
        </p:nvSpPr>
        <p:spPr>
          <a:xfrm>
            <a:off x="777240" y="4352544"/>
            <a:ext cx="548640" cy="54864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7" name="Text 15"/>
          <p:cNvSpPr txBox="1"/>
          <p:nvPr/>
        </p:nvSpPr>
        <p:spPr>
          <a:xfrm>
            <a:off x="1600200" y="4215384"/>
            <a:ext cx="8138160" cy="822960"/>
          </a:xfrm>
          <a:prstGeom prst="rect">
            <a:avLst/>
          </a:prstGeom>
          <a:noFill/>
          <a:ln/>
        </p:spPr>
        <p:txBody>
          <a:bodyPr wrap="square" lIns="0" tIns="0" rIns="0" bIns="0" rtlCol="0" anchor="ctr"/>
          <a:lstStyle/>
          <a:p>
            <a:pPr marL="0" indent="0">
              <a:buNone/>
            </a:pPr>
            <a:r>
              <a:rPr lang="en-US" sz="1800" dirty="0">
                <a:solidFill>
                  <a:schemeClr val="tx1"/>
                </a:solidFill>
              </a:rPr>
              <a:t>Restore only the damaged regions with inpainting and keep the rest unchanged</a:t>
            </a:r>
            <a:endParaRPr lang="en-US" sz="1800" dirty="0"/>
          </a:p>
        </p:txBody>
      </p:sp>
      <p:sp>
        <p:nvSpPr>
          <p:cNvPr id="19" name="Shape 17"/>
          <p:cNvSpPr/>
          <p:nvPr/>
        </p:nvSpPr>
        <p:spPr>
          <a:xfrm>
            <a:off x="548640" y="5148072"/>
            <a:ext cx="11064240" cy="822960"/>
          </a:xfrm>
          <a:prstGeom prst="roundRect">
            <a:avLst>
              <a:gd name="adj" fmla="val 13333"/>
            </a:avLst>
          </a:prstGeom>
          <a:solidFill>
            <a:schemeClr val="bg2"/>
          </a:solidFill>
          <a:ln/>
        </p:spPr>
      </p:sp>
      <p:sp>
        <p:nvSpPr>
          <p:cNvPr id="20" name="Text 18"/>
          <p:cNvSpPr txBox="1"/>
          <p:nvPr/>
        </p:nvSpPr>
        <p:spPr>
          <a:xfrm>
            <a:off x="777240" y="5285232"/>
            <a:ext cx="548640" cy="54864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21" name="Text 19"/>
          <p:cNvSpPr txBox="1"/>
          <p:nvPr/>
        </p:nvSpPr>
        <p:spPr>
          <a:xfrm>
            <a:off x="1600200" y="5148072"/>
            <a:ext cx="8138160" cy="822960"/>
          </a:xfrm>
          <a:prstGeom prst="rect">
            <a:avLst/>
          </a:prstGeom>
          <a:noFill/>
          <a:ln/>
        </p:spPr>
        <p:txBody>
          <a:bodyPr wrap="square" lIns="0" tIns="0" rIns="0" bIns="0" rtlCol="0" anchor="ctr"/>
          <a:lstStyle/>
          <a:p>
            <a:pPr marL="0" indent="0">
              <a:buNone/>
            </a:pPr>
            <a:r>
              <a:rPr lang="en-US" sz="1800" dirty="0">
                <a:solidFill>
                  <a:schemeClr val="tx1"/>
                </a:solidFill>
              </a:rPr>
              <a:t>Evaluate results with PSNR and SSIM and produce a downloadable output</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400" b="1" dirty="0">
                <a:solidFill>
                  <a:schemeClr val="tx2"/>
                </a:solidFill>
              </a:rPr>
              <a:t>System Architecture: Overall Design</a:t>
            </a:r>
            <a:endParaRPr lang="en-US" sz="3400" dirty="0"/>
          </a:p>
        </p:txBody>
      </p:sp>
      <p:sp>
        <p:nvSpPr>
          <p:cNvPr id="3" name="Text 1"/>
          <p:cNvSpPr txBox="1"/>
          <p:nvPr/>
        </p:nvSpPr>
        <p:spPr>
          <a:xfrm>
            <a:off x="548640" y="1371600"/>
            <a:ext cx="1920240" cy="457200"/>
          </a:xfrm>
          <a:prstGeom prst="roundRect">
            <a:avLst>
              <a:gd name="adj" fmla="val 20000"/>
            </a:avLst>
          </a:prstGeom>
          <a:solidFill>
            <a:schemeClr val="accent2"/>
          </a:solidFill>
          <a:ln/>
        </p:spPr>
        <p:txBody>
          <a:bodyPr wrap="square" lIns="0" tIns="0" rIns="0" bIns="0" rtlCol="0" anchor="ctr"/>
          <a:lstStyle/>
          <a:p>
            <a:pPr marL="0" indent="0" algn="ctr">
              <a:buNone/>
            </a:pPr>
            <a:r>
              <a:rPr lang="en-US" sz="1300" b="1" dirty="0">
                <a:solidFill>
                  <a:schemeClr val="bg1"/>
                </a:solidFill>
              </a:rPr>
              <a:t>Input photograph</a:t>
            </a:r>
            <a:endParaRPr lang="en-US" sz="1300" dirty="0"/>
          </a:p>
        </p:txBody>
      </p:sp>
      <p:sp>
        <p:nvSpPr>
          <p:cNvPr id="4" name="Text 2"/>
          <p:cNvSpPr txBox="1"/>
          <p:nvPr/>
        </p:nvSpPr>
        <p:spPr>
          <a:xfrm>
            <a:off x="9692640" y="1371600"/>
            <a:ext cx="1920240" cy="457200"/>
          </a:xfrm>
          <a:prstGeom prst="roundRect">
            <a:avLst>
              <a:gd name="adj" fmla="val 20000"/>
            </a:avLst>
          </a:prstGeom>
          <a:solidFill>
            <a:schemeClr val="accent2"/>
          </a:solidFill>
          <a:ln/>
        </p:spPr>
        <p:txBody>
          <a:bodyPr wrap="square" lIns="0" tIns="0" rIns="0" bIns="0" rtlCol="0" anchor="ctr"/>
          <a:lstStyle/>
          <a:p>
            <a:pPr marL="0" indent="0" algn="ctr">
              <a:buNone/>
            </a:pPr>
            <a:r>
              <a:rPr lang="en-US" sz="1300" b="1" dirty="0">
                <a:solidFill>
                  <a:schemeClr val="bg1"/>
                </a:solidFill>
              </a:rPr>
              <a:t>Restored output</a:t>
            </a:r>
            <a:endParaRPr lang="en-US" sz="1300" dirty="0"/>
          </a:p>
        </p:txBody>
      </p:sp>
      <p:sp>
        <p:nvSpPr>
          <p:cNvPr id="5" name="Shape 3"/>
          <p:cNvSpPr/>
          <p:nvPr/>
        </p:nvSpPr>
        <p:spPr>
          <a:xfrm>
            <a:off x="1508760" y="1856232"/>
            <a:ext cx="0" cy="365760"/>
          </a:xfrm>
          <a:prstGeom prst="line">
            <a:avLst/>
          </a:prstGeom>
          <a:noFill/>
          <a:ln w="25400">
            <a:solidFill>
              <a:schemeClr val="accent4"/>
            </a:solidFill>
            <a:prstDash val="solid"/>
            <a:tailEnd type="triangle"/>
          </a:ln>
        </p:spPr>
      </p:sp>
      <p:sp>
        <p:nvSpPr>
          <p:cNvPr id="6" name="Shape 4"/>
          <p:cNvSpPr/>
          <p:nvPr/>
        </p:nvSpPr>
        <p:spPr>
          <a:xfrm flipV="1">
            <a:off x="10652760" y="1856232"/>
            <a:ext cx="0" cy="365760"/>
          </a:xfrm>
          <a:prstGeom prst="line">
            <a:avLst/>
          </a:prstGeom>
          <a:noFill/>
          <a:ln w="25400">
            <a:solidFill>
              <a:schemeClr val="accent4"/>
            </a:solidFill>
            <a:prstDash val="solid"/>
            <a:tailEnd type="triangle"/>
          </a:ln>
        </p:spPr>
      </p:sp>
      <p:sp>
        <p:nvSpPr>
          <p:cNvPr id="7" name="Shape 5"/>
          <p:cNvSpPr/>
          <p:nvPr/>
        </p:nvSpPr>
        <p:spPr>
          <a:xfrm>
            <a:off x="548640" y="2240280"/>
            <a:ext cx="1920240" cy="2926080"/>
          </a:xfrm>
          <a:prstGeom prst="roundRect">
            <a:avLst>
              <a:gd name="adj" fmla="val 5714"/>
            </a:avLst>
          </a:prstGeom>
          <a:solidFill>
            <a:schemeClr val="bg2"/>
          </a:solidFill>
          <a:ln/>
        </p:spPr>
      </p:sp>
      <p:sp>
        <p:nvSpPr>
          <p:cNvPr id="8" name="Text 6"/>
          <p:cNvSpPr txBox="1"/>
          <p:nvPr/>
        </p:nvSpPr>
        <p:spPr>
          <a:xfrm>
            <a:off x="731520" y="2423160"/>
            <a:ext cx="502920" cy="50292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9" name="Text 7"/>
          <p:cNvSpPr txBox="1"/>
          <p:nvPr/>
        </p:nvSpPr>
        <p:spPr>
          <a:xfrm>
            <a:off x="731520" y="3063240"/>
            <a:ext cx="1554480" cy="1005840"/>
          </a:xfrm>
          <a:prstGeom prst="rect">
            <a:avLst/>
          </a:prstGeom>
          <a:noFill/>
          <a:ln/>
        </p:spPr>
        <p:txBody>
          <a:bodyPr wrap="square" lIns="0" tIns="0" rIns="0" bIns="0" rtlCol="0" anchor="t"/>
          <a:lstStyle/>
          <a:p>
            <a:pPr marL="0" indent="0">
              <a:buNone/>
            </a:pPr>
            <a:r>
              <a:rPr lang="en-US" sz="1400" b="1" dirty="0">
                <a:solidFill>
                  <a:schemeClr val="tx2"/>
                </a:solidFill>
              </a:rPr>
              <a:t>Image Acquisition and Preprocessing</a:t>
            </a:r>
            <a:endParaRPr lang="en-US" sz="1400" dirty="0"/>
          </a:p>
        </p:txBody>
      </p:sp>
      <p:sp>
        <p:nvSpPr>
          <p:cNvPr id="10" name="Text 8"/>
          <p:cNvSpPr txBox="1"/>
          <p:nvPr/>
        </p:nvSpPr>
        <p:spPr>
          <a:xfrm>
            <a:off x="731520" y="4114800"/>
            <a:ext cx="1554480" cy="960120"/>
          </a:xfrm>
          <a:prstGeom prst="rect">
            <a:avLst/>
          </a:prstGeom>
          <a:noFill/>
          <a:ln/>
        </p:spPr>
        <p:txBody>
          <a:bodyPr wrap="square" lIns="0" tIns="0" rIns="0" bIns="0" rtlCol="0" anchor="t"/>
          <a:lstStyle/>
          <a:p>
            <a:pPr marL="0" indent="0">
              <a:buNone/>
            </a:pPr>
            <a:r>
              <a:rPr lang="en-US" sz="1200" dirty="0">
                <a:solidFill>
                  <a:schemeClr val="accent4"/>
                </a:solidFill>
              </a:rPr>
              <a:t>Grayscale conversion, resizing, Gaussian filtering, histogram equalization</a:t>
            </a:r>
            <a:endParaRPr lang="en-US" sz="1200" dirty="0"/>
          </a:p>
        </p:txBody>
      </p:sp>
      <p:sp>
        <p:nvSpPr>
          <p:cNvPr id="11" name="Shape 9"/>
          <p:cNvSpPr/>
          <p:nvPr/>
        </p:nvSpPr>
        <p:spPr>
          <a:xfrm>
            <a:off x="2496312" y="3703320"/>
            <a:ext cx="310896" cy="0"/>
          </a:xfrm>
          <a:prstGeom prst="line">
            <a:avLst/>
          </a:prstGeom>
          <a:noFill/>
          <a:ln w="25400">
            <a:solidFill>
              <a:schemeClr val="accent4"/>
            </a:solidFill>
            <a:prstDash val="solid"/>
            <a:tailEnd type="triangle"/>
          </a:ln>
        </p:spPr>
      </p:sp>
      <p:sp>
        <p:nvSpPr>
          <p:cNvPr id="12" name="Shape 10"/>
          <p:cNvSpPr/>
          <p:nvPr/>
        </p:nvSpPr>
        <p:spPr>
          <a:xfrm>
            <a:off x="2834640" y="2240280"/>
            <a:ext cx="1920240" cy="2926080"/>
          </a:xfrm>
          <a:prstGeom prst="roundRect">
            <a:avLst>
              <a:gd name="adj" fmla="val 5714"/>
            </a:avLst>
          </a:prstGeom>
          <a:solidFill>
            <a:schemeClr val="bg2"/>
          </a:solidFill>
          <a:ln/>
        </p:spPr>
      </p:sp>
      <p:sp>
        <p:nvSpPr>
          <p:cNvPr id="13" name="Text 11"/>
          <p:cNvSpPr txBox="1"/>
          <p:nvPr/>
        </p:nvSpPr>
        <p:spPr>
          <a:xfrm>
            <a:off x="3017520" y="2423160"/>
            <a:ext cx="502920" cy="50292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4" name="Text 12"/>
          <p:cNvSpPr txBox="1"/>
          <p:nvPr/>
        </p:nvSpPr>
        <p:spPr>
          <a:xfrm>
            <a:off x="3017520" y="3063240"/>
            <a:ext cx="1554480" cy="1005840"/>
          </a:xfrm>
          <a:prstGeom prst="rect">
            <a:avLst/>
          </a:prstGeom>
          <a:noFill/>
          <a:ln/>
        </p:spPr>
        <p:txBody>
          <a:bodyPr wrap="square" lIns="0" tIns="0" rIns="0" bIns="0" rtlCol="0" anchor="t"/>
          <a:lstStyle/>
          <a:p>
            <a:pPr marL="0" indent="0">
              <a:buNone/>
            </a:pPr>
            <a:r>
              <a:rPr lang="en-US" sz="1400" b="1" dirty="0">
                <a:solidFill>
                  <a:schemeClr val="tx2"/>
                </a:solidFill>
              </a:rPr>
              <a:t>Damage Detection Using Computer Vision</a:t>
            </a:r>
            <a:endParaRPr lang="en-US" sz="1400" dirty="0"/>
          </a:p>
        </p:txBody>
      </p:sp>
      <p:sp>
        <p:nvSpPr>
          <p:cNvPr id="15" name="Text 13"/>
          <p:cNvSpPr txBox="1"/>
          <p:nvPr/>
        </p:nvSpPr>
        <p:spPr>
          <a:xfrm>
            <a:off x="3017520" y="4114800"/>
            <a:ext cx="1554480" cy="960120"/>
          </a:xfrm>
          <a:prstGeom prst="rect">
            <a:avLst/>
          </a:prstGeom>
          <a:noFill/>
          <a:ln/>
        </p:spPr>
        <p:txBody>
          <a:bodyPr wrap="square" lIns="0" tIns="0" rIns="0" bIns="0" rtlCol="0" anchor="t"/>
          <a:lstStyle/>
          <a:p>
            <a:pPr marL="0" indent="0">
              <a:buNone/>
            </a:pPr>
            <a:r>
              <a:rPr lang="en-US" sz="1200" dirty="0">
                <a:solidFill>
                  <a:schemeClr val="accent4"/>
                </a:solidFill>
              </a:rPr>
              <a:t>Thresholding, edge detection, morphological operations</a:t>
            </a:r>
            <a:endParaRPr lang="en-US" sz="1200" dirty="0"/>
          </a:p>
        </p:txBody>
      </p:sp>
      <p:sp>
        <p:nvSpPr>
          <p:cNvPr id="16" name="Shape 14"/>
          <p:cNvSpPr/>
          <p:nvPr/>
        </p:nvSpPr>
        <p:spPr>
          <a:xfrm>
            <a:off x="4782312" y="3703320"/>
            <a:ext cx="310896" cy="0"/>
          </a:xfrm>
          <a:prstGeom prst="line">
            <a:avLst/>
          </a:prstGeom>
          <a:noFill/>
          <a:ln w="25400">
            <a:solidFill>
              <a:schemeClr val="accent4"/>
            </a:solidFill>
            <a:prstDash val="solid"/>
            <a:tailEnd type="triangle"/>
          </a:ln>
        </p:spPr>
      </p:sp>
      <p:sp>
        <p:nvSpPr>
          <p:cNvPr id="17" name="Shape 15"/>
          <p:cNvSpPr/>
          <p:nvPr/>
        </p:nvSpPr>
        <p:spPr>
          <a:xfrm>
            <a:off x="5120640" y="2240280"/>
            <a:ext cx="1920240" cy="2926080"/>
          </a:xfrm>
          <a:prstGeom prst="roundRect">
            <a:avLst>
              <a:gd name="adj" fmla="val 5714"/>
            </a:avLst>
          </a:prstGeom>
          <a:solidFill>
            <a:schemeClr val="bg2"/>
          </a:solidFill>
          <a:ln/>
        </p:spPr>
      </p:sp>
      <p:sp>
        <p:nvSpPr>
          <p:cNvPr id="18" name="Text 16"/>
          <p:cNvSpPr txBox="1"/>
          <p:nvPr/>
        </p:nvSpPr>
        <p:spPr>
          <a:xfrm>
            <a:off x="5303520" y="2423160"/>
            <a:ext cx="502920" cy="50292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9" name="Text 17"/>
          <p:cNvSpPr txBox="1"/>
          <p:nvPr/>
        </p:nvSpPr>
        <p:spPr>
          <a:xfrm>
            <a:off x="5303520" y="3063240"/>
            <a:ext cx="1554480" cy="1005840"/>
          </a:xfrm>
          <a:prstGeom prst="rect">
            <a:avLst/>
          </a:prstGeom>
          <a:noFill/>
          <a:ln/>
        </p:spPr>
        <p:txBody>
          <a:bodyPr wrap="square" lIns="0" tIns="0" rIns="0" bIns="0" rtlCol="0" anchor="t"/>
          <a:lstStyle/>
          <a:p>
            <a:pPr marL="0" indent="0">
              <a:buNone/>
            </a:pPr>
            <a:r>
              <a:rPr lang="en-US" sz="1400" b="1" dirty="0">
                <a:solidFill>
                  <a:schemeClr val="tx2"/>
                </a:solidFill>
              </a:rPr>
              <a:t>Damage Classification and Localization</a:t>
            </a:r>
            <a:endParaRPr lang="en-US" sz="1400" dirty="0"/>
          </a:p>
        </p:txBody>
      </p:sp>
      <p:sp>
        <p:nvSpPr>
          <p:cNvPr id="20" name="Text 18"/>
          <p:cNvSpPr txBox="1"/>
          <p:nvPr/>
        </p:nvSpPr>
        <p:spPr>
          <a:xfrm>
            <a:off x="5303520" y="4114800"/>
            <a:ext cx="1554480" cy="960120"/>
          </a:xfrm>
          <a:prstGeom prst="rect">
            <a:avLst/>
          </a:prstGeom>
          <a:noFill/>
          <a:ln/>
        </p:spPr>
        <p:txBody>
          <a:bodyPr wrap="square" lIns="0" tIns="0" rIns="0" bIns="0" rtlCol="0" anchor="t"/>
          <a:lstStyle/>
          <a:p>
            <a:pPr marL="0" indent="0">
              <a:buNone/>
            </a:pPr>
            <a:r>
              <a:rPr lang="en-US" sz="1200" dirty="0">
                <a:solidFill>
                  <a:schemeClr val="accent4"/>
                </a:solidFill>
              </a:rPr>
              <a:t>Contour detection, feature extraction, CNN or U-Net</a:t>
            </a:r>
            <a:endParaRPr lang="en-US" sz="1200" dirty="0"/>
          </a:p>
        </p:txBody>
      </p:sp>
      <p:sp>
        <p:nvSpPr>
          <p:cNvPr id="21" name="Shape 19"/>
          <p:cNvSpPr/>
          <p:nvPr/>
        </p:nvSpPr>
        <p:spPr>
          <a:xfrm>
            <a:off x="7068312" y="3703320"/>
            <a:ext cx="310896" cy="0"/>
          </a:xfrm>
          <a:prstGeom prst="line">
            <a:avLst/>
          </a:prstGeom>
          <a:noFill/>
          <a:ln w="25400">
            <a:solidFill>
              <a:schemeClr val="accent4"/>
            </a:solidFill>
            <a:prstDash val="solid"/>
            <a:tailEnd type="triangle"/>
          </a:ln>
        </p:spPr>
      </p:sp>
      <p:sp>
        <p:nvSpPr>
          <p:cNvPr id="22" name="Shape 20"/>
          <p:cNvSpPr/>
          <p:nvPr/>
        </p:nvSpPr>
        <p:spPr>
          <a:xfrm>
            <a:off x="7406640" y="2240280"/>
            <a:ext cx="1920240" cy="2926080"/>
          </a:xfrm>
          <a:prstGeom prst="roundRect">
            <a:avLst>
              <a:gd name="adj" fmla="val 5714"/>
            </a:avLst>
          </a:prstGeom>
          <a:solidFill>
            <a:schemeClr val="bg2"/>
          </a:solidFill>
          <a:ln/>
        </p:spPr>
      </p:sp>
      <p:sp>
        <p:nvSpPr>
          <p:cNvPr id="23" name="Text 21"/>
          <p:cNvSpPr txBox="1"/>
          <p:nvPr/>
        </p:nvSpPr>
        <p:spPr>
          <a:xfrm>
            <a:off x="7589520" y="2423160"/>
            <a:ext cx="502920" cy="50292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24" name="Text 22"/>
          <p:cNvSpPr txBox="1"/>
          <p:nvPr/>
        </p:nvSpPr>
        <p:spPr>
          <a:xfrm>
            <a:off x="7589520" y="3063240"/>
            <a:ext cx="1554480" cy="1005840"/>
          </a:xfrm>
          <a:prstGeom prst="rect">
            <a:avLst/>
          </a:prstGeom>
          <a:noFill/>
          <a:ln/>
        </p:spPr>
        <p:txBody>
          <a:bodyPr wrap="square" lIns="0" tIns="0" rIns="0" bIns="0" rtlCol="0" anchor="t"/>
          <a:lstStyle/>
          <a:p>
            <a:pPr marL="0" indent="0">
              <a:buNone/>
            </a:pPr>
            <a:r>
              <a:rPr lang="en-US" sz="1400" b="1" dirty="0">
                <a:solidFill>
                  <a:schemeClr val="tx2"/>
                </a:solidFill>
              </a:rPr>
              <a:t>Selective Image Restoration Using Inpainting</a:t>
            </a:r>
            <a:endParaRPr lang="en-US" sz="1400" dirty="0"/>
          </a:p>
        </p:txBody>
      </p:sp>
      <p:sp>
        <p:nvSpPr>
          <p:cNvPr id="25" name="Text 23"/>
          <p:cNvSpPr txBox="1"/>
          <p:nvPr/>
        </p:nvSpPr>
        <p:spPr>
          <a:xfrm>
            <a:off x="7589520" y="4114800"/>
            <a:ext cx="1554480" cy="960120"/>
          </a:xfrm>
          <a:prstGeom prst="rect">
            <a:avLst/>
          </a:prstGeom>
          <a:noFill/>
          <a:ln/>
        </p:spPr>
        <p:txBody>
          <a:bodyPr wrap="square" lIns="0" tIns="0" rIns="0" bIns="0" rtlCol="0" anchor="t"/>
          <a:lstStyle/>
          <a:p>
            <a:pPr marL="0" indent="0">
              <a:buNone/>
            </a:pPr>
            <a:r>
              <a:rPr lang="en-US" sz="1200" dirty="0">
                <a:solidFill>
                  <a:schemeClr val="accent4"/>
                </a:solidFill>
              </a:rPr>
              <a:t>Telea, Navier-Stokes or deep learning inpainting</a:t>
            </a:r>
            <a:endParaRPr lang="en-US" sz="1200" dirty="0"/>
          </a:p>
        </p:txBody>
      </p:sp>
      <p:sp>
        <p:nvSpPr>
          <p:cNvPr id="26" name="Shape 24"/>
          <p:cNvSpPr/>
          <p:nvPr/>
        </p:nvSpPr>
        <p:spPr>
          <a:xfrm>
            <a:off x="9354312" y="3703320"/>
            <a:ext cx="310896" cy="0"/>
          </a:xfrm>
          <a:prstGeom prst="line">
            <a:avLst/>
          </a:prstGeom>
          <a:noFill/>
          <a:ln w="25400">
            <a:solidFill>
              <a:schemeClr val="accent4"/>
            </a:solidFill>
            <a:prstDash val="solid"/>
            <a:tailEnd type="triangle"/>
          </a:ln>
        </p:spPr>
      </p:sp>
      <p:sp>
        <p:nvSpPr>
          <p:cNvPr id="27" name="Shape 25"/>
          <p:cNvSpPr/>
          <p:nvPr/>
        </p:nvSpPr>
        <p:spPr>
          <a:xfrm>
            <a:off x="9692640" y="2240280"/>
            <a:ext cx="1920240" cy="2926080"/>
          </a:xfrm>
          <a:prstGeom prst="roundRect">
            <a:avLst>
              <a:gd name="adj" fmla="val 5714"/>
            </a:avLst>
          </a:prstGeom>
          <a:solidFill>
            <a:schemeClr val="bg2"/>
          </a:solidFill>
          <a:ln/>
        </p:spPr>
      </p:sp>
      <p:sp>
        <p:nvSpPr>
          <p:cNvPr id="28" name="Text 26"/>
          <p:cNvSpPr txBox="1"/>
          <p:nvPr/>
        </p:nvSpPr>
        <p:spPr>
          <a:xfrm>
            <a:off x="9875520" y="2423160"/>
            <a:ext cx="502920" cy="50292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29" name="Text 27"/>
          <p:cNvSpPr txBox="1"/>
          <p:nvPr/>
        </p:nvSpPr>
        <p:spPr>
          <a:xfrm>
            <a:off x="9875520" y="3063240"/>
            <a:ext cx="1554480" cy="1005840"/>
          </a:xfrm>
          <a:prstGeom prst="rect">
            <a:avLst/>
          </a:prstGeom>
          <a:noFill/>
          <a:ln/>
        </p:spPr>
        <p:txBody>
          <a:bodyPr wrap="square" lIns="0" tIns="0" rIns="0" bIns="0" rtlCol="0" anchor="t"/>
          <a:lstStyle/>
          <a:p>
            <a:pPr marL="0" indent="0">
              <a:buNone/>
            </a:pPr>
            <a:r>
              <a:rPr lang="en-US" sz="1400" b="1" dirty="0">
                <a:solidFill>
                  <a:schemeClr val="tx2"/>
                </a:solidFill>
              </a:rPr>
              <a:t>Image Quality Evaluation and Output Generation</a:t>
            </a:r>
            <a:endParaRPr lang="en-US" sz="1400" dirty="0"/>
          </a:p>
        </p:txBody>
      </p:sp>
      <p:sp>
        <p:nvSpPr>
          <p:cNvPr id="30" name="Text 28"/>
          <p:cNvSpPr txBox="1"/>
          <p:nvPr/>
        </p:nvSpPr>
        <p:spPr>
          <a:xfrm>
            <a:off x="9875520" y="4114800"/>
            <a:ext cx="1554480" cy="960120"/>
          </a:xfrm>
          <a:prstGeom prst="rect">
            <a:avLst/>
          </a:prstGeom>
          <a:noFill/>
          <a:ln/>
        </p:spPr>
        <p:txBody>
          <a:bodyPr wrap="square" lIns="0" tIns="0" rIns="0" bIns="0" rtlCol="0" anchor="t"/>
          <a:lstStyle/>
          <a:p>
            <a:pPr marL="0" indent="0">
              <a:buNone/>
            </a:pPr>
            <a:r>
              <a:rPr lang="en-US" sz="1200" dirty="0">
                <a:solidFill>
                  <a:schemeClr val="accent4"/>
                </a:solidFill>
              </a:rPr>
              <a:t>PSNR, SSIM, image difference, side-by-side view</a:t>
            </a:r>
            <a:endParaRPr lang="en-US" sz="1200" dirty="0"/>
          </a:p>
        </p:txBody>
      </p:sp>
      <p:sp>
        <p:nvSpPr>
          <p:cNvPr id="31" name="Shape 29"/>
          <p:cNvSpPr/>
          <p:nvPr/>
        </p:nvSpPr>
        <p:spPr>
          <a:xfrm>
            <a:off x="548640" y="5394960"/>
            <a:ext cx="11064240" cy="731520"/>
          </a:xfrm>
          <a:prstGeom prst="roundRect">
            <a:avLst>
              <a:gd name="adj" fmla="val 15000"/>
            </a:avLst>
          </a:prstGeom>
          <a:solidFill>
            <a:schemeClr val="tx2"/>
          </a:solidFill>
          <a:ln/>
        </p:spPr>
      </p:sp>
      <p:sp>
        <p:nvSpPr>
          <p:cNvPr id="32" name="Text 30"/>
          <p:cNvSpPr txBox="1"/>
          <p:nvPr/>
        </p:nvSpPr>
        <p:spPr>
          <a:xfrm>
            <a:off x="822960" y="5394960"/>
            <a:ext cx="10515600" cy="731520"/>
          </a:xfrm>
          <a:prstGeom prst="rect">
            <a:avLst/>
          </a:prstGeom>
          <a:noFill/>
          <a:ln/>
        </p:spPr>
        <p:txBody>
          <a:bodyPr wrap="square" lIns="0" tIns="0" rIns="0" bIns="0" rtlCol="0" anchor="ctr"/>
          <a:lstStyle/>
          <a:p>
            <a:pPr marL="0" indent="0">
              <a:buNone/>
            </a:pPr>
            <a:r>
              <a:rPr lang="en-US" sz="1500" dirty="0">
                <a:solidFill>
                  <a:schemeClr val="bg1"/>
                </a:solidFill>
              </a:rPr>
              <a:t>The original image is preserved throughout. Only pixels inside the damage mask are changed, and the result is then compared with the original.</a:t>
            </a:r>
            <a:endParaRPr lang="en-US" sz="1500" dirty="0"/>
          </a:p>
        </p:txBody>
      </p:sp>
      <p:sp>
        <p:nvSpPr>
          <p:cNvPr id="3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400" b="1" dirty="0">
                <a:solidFill>
                  <a:schemeClr val="tx2"/>
                </a:solidFill>
              </a:rPr>
              <a:t>Modules Introduction</a:t>
            </a:r>
            <a:endParaRPr lang="en-US" sz="3400" dirty="0"/>
          </a:p>
        </p:txBody>
      </p:sp>
      <p:sp>
        <p:nvSpPr>
          <p:cNvPr id="3" name="Text 1"/>
          <p:cNvSpPr txBox="1"/>
          <p:nvPr/>
        </p:nvSpPr>
        <p:spPr>
          <a:xfrm>
            <a:off x="777240" y="1325880"/>
            <a:ext cx="2743200" cy="274320"/>
          </a:xfrm>
          <a:prstGeom prst="rect">
            <a:avLst/>
          </a:prstGeom>
          <a:noFill/>
          <a:ln/>
        </p:spPr>
        <p:txBody>
          <a:bodyPr wrap="square" lIns="0" tIns="0" rIns="0" bIns="0" rtlCol="0" anchor="t"/>
          <a:lstStyle/>
          <a:p>
            <a:pPr marL="0" indent="0">
              <a:buNone/>
            </a:pPr>
            <a:r>
              <a:rPr lang="en-US" sz="1200" b="1" dirty="0">
                <a:solidFill>
                  <a:schemeClr val="accent4"/>
                </a:solidFill>
              </a:rPr>
              <a:t>MODULE</a:t>
            </a:r>
            <a:endParaRPr lang="en-US" sz="1200" dirty="0"/>
          </a:p>
        </p:txBody>
      </p:sp>
      <p:sp>
        <p:nvSpPr>
          <p:cNvPr id="4" name="Text 2"/>
          <p:cNvSpPr txBox="1"/>
          <p:nvPr/>
        </p:nvSpPr>
        <p:spPr>
          <a:xfrm>
            <a:off x="5074920" y="1325880"/>
            <a:ext cx="2743200" cy="274320"/>
          </a:xfrm>
          <a:prstGeom prst="rect">
            <a:avLst/>
          </a:prstGeom>
          <a:noFill/>
          <a:ln/>
        </p:spPr>
        <p:txBody>
          <a:bodyPr wrap="square" lIns="0" tIns="0" rIns="0" bIns="0" rtlCol="0" anchor="t"/>
          <a:lstStyle/>
          <a:p>
            <a:pPr marL="0" indent="0">
              <a:buNone/>
            </a:pPr>
            <a:r>
              <a:rPr lang="en-US" sz="1200" b="1" dirty="0">
                <a:solidFill>
                  <a:schemeClr val="accent4"/>
                </a:solidFill>
              </a:rPr>
              <a:t>PURPOSE</a:t>
            </a:r>
            <a:endParaRPr lang="en-US" sz="1200" dirty="0"/>
          </a:p>
        </p:txBody>
      </p:sp>
      <p:sp>
        <p:nvSpPr>
          <p:cNvPr id="5" name="Text 3"/>
          <p:cNvSpPr txBox="1"/>
          <p:nvPr/>
        </p:nvSpPr>
        <p:spPr>
          <a:xfrm>
            <a:off x="8823960" y="1325880"/>
            <a:ext cx="2743200" cy="274320"/>
          </a:xfrm>
          <a:prstGeom prst="rect">
            <a:avLst/>
          </a:prstGeom>
          <a:noFill/>
          <a:ln/>
        </p:spPr>
        <p:txBody>
          <a:bodyPr wrap="square" lIns="0" tIns="0" rIns="0" bIns="0" rtlCol="0" anchor="t"/>
          <a:lstStyle/>
          <a:p>
            <a:pPr marL="0" indent="0">
              <a:buNone/>
            </a:pPr>
            <a:r>
              <a:rPr lang="en-US" sz="1200" b="1" dirty="0">
                <a:solidFill>
                  <a:schemeClr val="accent4"/>
                </a:solidFill>
              </a:rPr>
              <a:t>KEY TECHNIQUES</a:t>
            </a:r>
            <a:endParaRPr lang="en-US" sz="1200" dirty="0"/>
          </a:p>
        </p:txBody>
      </p:sp>
      <p:sp>
        <p:nvSpPr>
          <p:cNvPr id="6" name="Shape 4"/>
          <p:cNvSpPr/>
          <p:nvPr/>
        </p:nvSpPr>
        <p:spPr>
          <a:xfrm>
            <a:off x="548640" y="1645920"/>
            <a:ext cx="11064240" cy="822960"/>
          </a:xfrm>
          <a:prstGeom prst="roundRect">
            <a:avLst>
              <a:gd name="adj" fmla="val 13333"/>
            </a:avLst>
          </a:prstGeom>
          <a:solidFill>
            <a:schemeClr val="bg2"/>
          </a:solidFill>
          <a:ln/>
        </p:spPr>
      </p:sp>
      <p:sp>
        <p:nvSpPr>
          <p:cNvPr id="7" name="Text 5"/>
          <p:cNvSpPr txBox="1"/>
          <p:nvPr/>
        </p:nvSpPr>
        <p:spPr>
          <a:xfrm>
            <a:off x="777240" y="1783080"/>
            <a:ext cx="548640" cy="54864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8" name="Text 6"/>
          <p:cNvSpPr txBox="1"/>
          <p:nvPr/>
        </p:nvSpPr>
        <p:spPr>
          <a:xfrm>
            <a:off x="1600200" y="1645920"/>
            <a:ext cx="3291840" cy="822960"/>
          </a:xfrm>
          <a:prstGeom prst="rect">
            <a:avLst/>
          </a:prstGeom>
          <a:noFill/>
          <a:ln/>
        </p:spPr>
        <p:txBody>
          <a:bodyPr wrap="square" lIns="0" tIns="0" rIns="0" bIns="0" rtlCol="0" anchor="ctr"/>
          <a:lstStyle/>
          <a:p>
            <a:pPr marL="0" indent="0">
              <a:buNone/>
            </a:pPr>
            <a:r>
              <a:rPr lang="en-US" sz="1500" b="1" dirty="0">
                <a:solidFill>
                  <a:schemeClr val="tx2"/>
                </a:solidFill>
              </a:rPr>
              <a:t>Historical Image Acquisition and Preprocessing</a:t>
            </a:r>
            <a:endParaRPr lang="en-US" sz="1500" dirty="0"/>
          </a:p>
        </p:txBody>
      </p:sp>
      <p:sp>
        <p:nvSpPr>
          <p:cNvPr id="9" name="Text 7"/>
          <p:cNvSpPr txBox="1"/>
          <p:nvPr/>
        </p:nvSpPr>
        <p:spPr>
          <a:xfrm>
            <a:off x="5074920" y="1645920"/>
            <a:ext cx="3520440" cy="822960"/>
          </a:xfrm>
          <a:prstGeom prst="rect">
            <a:avLst/>
          </a:prstGeom>
          <a:noFill/>
          <a:ln/>
        </p:spPr>
        <p:txBody>
          <a:bodyPr wrap="square" lIns="0" tIns="0" rIns="0" bIns="0" rtlCol="0" anchor="ctr"/>
          <a:lstStyle/>
          <a:p>
            <a:pPr marL="0" indent="0">
              <a:buNone/>
            </a:pPr>
            <a:r>
              <a:rPr lang="en-US" sz="1400" dirty="0">
                <a:solidFill>
                  <a:schemeClr val="tx1"/>
                </a:solidFill>
              </a:rPr>
              <a:t>Collect photographs and clean them for analysis</a:t>
            </a:r>
            <a:endParaRPr lang="en-US" sz="1400" dirty="0"/>
          </a:p>
        </p:txBody>
      </p:sp>
      <p:sp>
        <p:nvSpPr>
          <p:cNvPr id="10" name="Text 8"/>
          <p:cNvSpPr txBox="1"/>
          <p:nvPr/>
        </p:nvSpPr>
        <p:spPr>
          <a:xfrm>
            <a:off x="8823960" y="1645920"/>
            <a:ext cx="2651760" cy="822960"/>
          </a:xfrm>
          <a:prstGeom prst="rect">
            <a:avLst/>
          </a:prstGeom>
          <a:noFill/>
          <a:ln/>
        </p:spPr>
        <p:txBody>
          <a:bodyPr wrap="square" lIns="0" tIns="0" rIns="0" bIns="0" rtlCol="0" anchor="ctr"/>
          <a:lstStyle/>
          <a:p>
            <a:pPr marL="0" indent="0">
              <a:buNone/>
            </a:pPr>
            <a:r>
              <a:rPr lang="en-US" sz="1200" dirty="0">
                <a:solidFill>
                  <a:schemeClr val="accent4"/>
                </a:solidFill>
              </a:rPr>
              <a:t>Grayscale, resizing, Gaussian filter, histogram equalization</a:t>
            </a:r>
            <a:endParaRPr lang="en-US" sz="1200" dirty="0"/>
          </a:p>
        </p:txBody>
      </p:sp>
      <p:sp>
        <p:nvSpPr>
          <p:cNvPr id="11" name="Shape 9"/>
          <p:cNvSpPr/>
          <p:nvPr/>
        </p:nvSpPr>
        <p:spPr>
          <a:xfrm>
            <a:off x="548640" y="2560320"/>
            <a:ext cx="11064240" cy="822960"/>
          </a:xfrm>
          <a:prstGeom prst="roundRect">
            <a:avLst>
              <a:gd name="adj" fmla="val 13333"/>
            </a:avLst>
          </a:prstGeom>
          <a:solidFill>
            <a:schemeClr val="bg2"/>
          </a:solidFill>
          <a:ln/>
        </p:spPr>
      </p:sp>
      <p:sp>
        <p:nvSpPr>
          <p:cNvPr id="12" name="Text 10"/>
          <p:cNvSpPr txBox="1"/>
          <p:nvPr/>
        </p:nvSpPr>
        <p:spPr>
          <a:xfrm>
            <a:off x="777240" y="2697480"/>
            <a:ext cx="548640" cy="54864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3" name="Text 11"/>
          <p:cNvSpPr txBox="1"/>
          <p:nvPr/>
        </p:nvSpPr>
        <p:spPr>
          <a:xfrm>
            <a:off x="1600200" y="2560320"/>
            <a:ext cx="3291840" cy="822960"/>
          </a:xfrm>
          <a:prstGeom prst="rect">
            <a:avLst/>
          </a:prstGeom>
          <a:noFill/>
          <a:ln/>
        </p:spPr>
        <p:txBody>
          <a:bodyPr wrap="square" lIns="0" tIns="0" rIns="0" bIns="0" rtlCol="0" anchor="ctr"/>
          <a:lstStyle/>
          <a:p>
            <a:pPr marL="0" indent="0">
              <a:buNone/>
            </a:pPr>
            <a:r>
              <a:rPr lang="en-US" sz="1500" b="1" dirty="0">
                <a:solidFill>
                  <a:schemeClr val="tx2"/>
                </a:solidFill>
              </a:rPr>
              <a:t>Damage Detection Using Computer Vision</a:t>
            </a:r>
            <a:endParaRPr lang="en-US" sz="1500" dirty="0"/>
          </a:p>
        </p:txBody>
      </p:sp>
      <p:sp>
        <p:nvSpPr>
          <p:cNvPr id="14" name="Text 12"/>
          <p:cNvSpPr txBox="1"/>
          <p:nvPr/>
        </p:nvSpPr>
        <p:spPr>
          <a:xfrm>
            <a:off x="5074920" y="2560320"/>
            <a:ext cx="3520440" cy="822960"/>
          </a:xfrm>
          <a:prstGeom prst="rect">
            <a:avLst/>
          </a:prstGeom>
          <a:noFill/>
          <a:ln/>
        </p:spPr>
        <p:txBody>
          <a:bodyPr wrap="square" lIns="0" tIns="0" rIns="0" bIns="0" rtlCol="0" anchor="ctr"/>
          <a:lstStyle/>
          <a:p>
            <a:pPr marL="0" indent="0">
              <a:buNone/>
            </a:pPr>
            <a:r>
              <a:rPr lang="en-US" sz="1400" dirty="0">
                <a:solidFill>
                  <a:schemeClr val="tx1"/>
                </a:solidFill>
              </a:rPr>
              <a:t>Find scratches, cracks, stains and spots as a damage mask</a:t>
            </a:r>
            <a:endParaRPr lang="en-US" sz="1400" dirty="0"/>
          </a:p>
        </p:txBody>
      </p:sp>
      <p:sp>
        <p:nvSpPr>
          <p:cNvPr id="15" name="Text 13"/>
          <p:cNvSpPr txBox="1"/>
          <p:nvPr/>
        </p:nvSpPr>
        <p:spPr>
          <a:xfrm>
            <a:off x="8823960" y="2560320"/>
            <a:ext cx="2651760" cy="822960"/>
          </a:xfrm>
          <a:prstGeom prst="rect">
            <a:avLst/>
          </a:prstGeom>
          <a:noFill/>
          <a:ln/>
        </p:spPr>
        <p:txBody>
          <a:bodyPr wrap="square" lIns="0" tIns="0" rIns="0" bIns="0" rtlCol="0" anchor="ctr"/>
          <a:lstStyle/>
          <a:p>
            <a:pPr marL="0" indent="0">
              <a:buNone/>
            </a:pPr>
            <a:r>
              <a:rPr lang="en-US" sz="1200" dirty="0">
                <a:solidFill>
                  <a:schemeClr val="accent4"/>
                </a:solidFill>
              </a:rPr>
              <a:t>Thresholding, edge detection, morphological operations</a:t>
            </a:r>
            <a:endParaRPr lang="en-US" sz="1200" dirty="0"/>
          </a:p>
        </p:txBody>
      </p:sp>
      <p:sp>
        <p:nvSpPr>
          <p:cNvPr id="16" name="Shape 14"/>
          <p:cNvSpPr/>
          <p:nvPr/>
        </p:nvSpPr>
        <p:spPr>
          <a:xfrm>
            <a:off x="548640" y="3474720"/>
            <a:ext cx="11064240" cy="822960"/>
          </a:xfrm>
          <a:prstGeom prst="roundRect">
            <a:avLst>
              <a:gd name="adj" fmla="val 13333"/>
            </a:avLst>
          </a:prstGeom>
          <a:solidFill>
            <a:schemeClr val="bg2"/>
          </a:solidFill>
          <a:ln/>
        </p:spPr>
      </p:sp>
      <p:sp>
        <p:nvSpPr>
          <p:cNvPr id="17" name="Text 15"/>
          <p:cNvSpPr txBox="1"/>
          <p:nvPr/>
        </p:nvSpPr>
        <p:spPr>
          <a:xfrm>
            <a:off x="777240" y="3611880"/>
            <a:ext cx="548640" cy="54864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8" name="Text 16"/>
          <p:cNvSpPr txBox="1"/>
          <p:nvPr/>
        </p:nvSpPr>
        <p:spPr>
          <a:xfrm>
            <a:off x="1600200" y="3474720"/>
            <a:ext cx="3291840" cy="822960"/>
          </a:xfrm>
          <a:prstGeom prst="rect">
            <a:avLst/>
          </a:prstGeom>
          <a:noFill/>
          <a:ln/>
        </p:spPr>
        <p:txBody>
          <a:bodyPr wrap="square" lIns="0" tIns="0" rIns="0" bIns="0" rtlCol="0" anchor="ctr"/>
          <a:lstStyle/>
          <a:p>
            <a:pPr marL="0" indent="0">
              <a:buNone/>
            </a:pPr>
            <a:r>
              <a:rPr lang="en-US" sz="1500" b="1" dirty="0">
                <a:solidFill>
                  <a:schemeClr val="tx2"/>
                </a:solidFill>
              </a:rPr>
              <a:t>Damage Classification and Localization</a:t>
            </a:r>
            <a:endParaRPr lang="en-US" sz="1500" dirty="0"/>
          </a:p>
        </p:txBody>
      </p:sp>
      <p:sp>
        <p:nvSpPr>
          <p:cNvPr id="19" name="Text 17"/>
          <p:cNvSpPr txBox="1"/>
          <p:nvPr/>
        </p:nvSpPr>
        <p:spPr>
          <a:xfrm>
            <a:off x="5074920" y="3474720"/>
            <a:ext cx="3520440" cy="822960"/>
          </a:xfrm>
          <a:prstGeom prst="rect">
            <a:avLst/>
          </a:prstGeom>
          <a:noFill/>
          <a:ln/>
        </p:spPr>
        <p:txBody>
          <a:bodyPr wrap="square" lIns="0" tIns="0" rIns="0" bIns="0" rtlCol="0" anchor="ctr"/>
          <a:lstStyle/>
          <a:p>
            <a:pPr marL="0" indent="0">
              <a:buNone/>
            </a:pPr>
            <a:r>
              <a:rPr lang="en-US" sz="1400" dirty="0">
                <a:solidFill>
                  <a:schemeClr val="tx1"/>
                </a:solidFill>
              </a:rPr>
              <a:t>Classify damage types and measure position, shape and size</a:t>
            </a:r>
            <a:endParaRPr lang="en-US" sz="1400" dirty="0"/>
          </a:p>
        </p:txBody>
      </p:sp>
      <p:sp>
        <p:nvSpPr>
          <p:cNvPr id="20" name="Text 18"/>
          <p:cNvSpPr txBox="1"/>
          <p:nvPr/>
        </p:nvSpPr>
        <p:spPr>
          <a:xfrm>
            <a:off x="8823960" y="3474720"/>
            <a:ext cx="2651760" cy="822960"/>
          </a:xfrm>
          <a:prstGeom prst="rect">
            <a:avLst/>
          </a:prstGeom>
          <a:noFill/>
          <a:ln/>
        </p:spPr>
        <p:txBody>
          <a:bodyPr wrap="square" lIns="0" tIns="0" rIns="0" bIns="0" rtlCol="0" anchor="ctr"/>
          <a:lstStyle/>
          <a:p>
            <a:pPr marL="0" indent="0">
              <a:buNone/>
            </a:pPr>
            <a:r>
              <a:rPr lang="en-US" sz="1200" dirty="0">
                <a:solidFill>
                  <a:schemeClr val="accent4"/>
                </a:solidFill>
              </a:rPr>
              <a:t>Contour detection, feature extraction, CNN or U-Net</a:t>
            </a:r>
            <a:endParaRPr lang="en-US" sz="1200" dirty="0"/>
          </a:p>
        </p:txBody>
      </p:sp>
      <p:sp>
        <p:nvSpPr>
          <p:cNvPr id="21" name="Shape 19"/>
          <p:cNvSpPr/>
          <p:nvPr/>
        </p:nvSpPr>
        <p:spPr>
          <a:xfrm>
            <a:off x="548640" y="4389120"/>
            <a:ext cx="11064240" cy="822960"/>
          </a:xfrm>
          <a:prstGeom prst="roundRect">
            <a:avLst>
              <a:gd name="adj" fmla="val 13333"/>
            </a:avLst>
          </a:prstGeom>
          <a:solidFill>
            <a:schemeClr val="bg2"/>
          </a:solidFill>
          <a:ln/>
        </p:spPr>
      </p:sp>
      <p:sp>
        <p:nvSpPr>
          <p:cNvPr id="22" name="Text 20"/>
          <p:cNvSpPr txBox="1"/>
          <p:nvPr/>
        </p:nvSpPr>
        <p:spPr>
          <a:xfrm>
            <a:off x="777240" y="4526280"/>
            <a:ext cx="548640" cy="54864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23" name="Text 21"/>
          <p:cNvSpPr txBox="1"/>
          <p:nvPr/>
        </p:nvSpPr>
        <p:spPr>
          <a:xfrm>
            <a:off x="1600200" y="4389120"/>
            <a:ext cx="3291840" cy="822960"/>
          </a:xfrm>
          <a:prstGeom prst="rect">
            <a:avLst/>
          </a:prstGeom>
          <a:noFill/>
          <a:ln/>
        </p:spPr>
        <p:txBody>
          <a:bodyPr wrap="square" lIns="0" tIns="0" rIns="0" bIns="0" rtlCol="0" anchor="ctr"/>
          <a:lstStyle/>
          <a:p>
            <a:pPr marL="0" indent="0">
              <a:buNone/>
            </a:pPr>
            <a:r>
              <a:rPr lang="en-US" sz="1500" b="1" dirty="0">
                <a:solidFill>
                  <a:schemeClr val="tx2"/>
                </a:solidFill>
              </a:rPr>
              <a:t>Selective Image Restoration Using Inpainting</a:t>
            </a:r>
            <a:endParaRPr lang="en-US" sz="1500" dirty="0"/>
          </a:p>
        </p:txBody>
      </p:sp>
      <p:sp>
        <p:nvSpPr>
          <p:cNvPr id="24" name="Text 22"/>
          <p:cNvSpPr txBox="1"/>
          <p:nvPr/>
        </p:nvSpPr>
        <p:spPr>
          <a:xfrm>
            <a:off x="5074920" y="4389120"/>
            <a:ext cx="3520440" cy="822960"/>
          </a:xfrm>
          <a:prstGeom prst="rect">
            <a:avLst/>
          </a:prstGeom>
          <a:noFill/>
          <a:ln/>
        </p:spPr>
        <p:txBody>
          <a:bodyPr wrap="square" lIns="0" tIns="0" rIns="0" bIns="0" rtlCol="0" anchor="ctr"/>
          <a:lstStyle/>
          <a:p>
            <a:pPr marL="0" indent="0">
              <a:buNone/>
            </a:pPr>
            <a:r>
              <a:rPr lang="en-US" sz="1400" dirty="0">
                <a:solidFill>
                  <a:schemeClr val="tx1"/>
                </a:solidFill>
              </a:rPr>
              <a:t>Repair only the damaged regions and keep the rest unchanged</a:t>
            </a:r>
            <a:endParaRPr lang="en-US" sz="1400" dirty="0"/>
          </a:p>
        </p:txBody>
      </p:sp>
      <p:sp>
        <p:nvSpPr>
          <p:cNvPr id="25" name="Text 23"/>
          <p:cNvSpPr txBox="1"/>
          <p:nvPr/>
        </p:nvSpPr>
        <p:spPr>
          <a:xfrm>
            <a:off x="8823960" y="4389120"/>
            <a:ext cx="2651760" cy="822960"/>
          </a:xfrm>
          <a:prstGeom prst="rect">
            <a:avLst/>
          </a:prstGeom>
          <a:noFill/>
          <a:ln/>
        </p:spPr>
        <p:txBody>
          <a:bodyPr wrap="square" lIns="0" tIns="0" rIns="0" bIns="0" rtlCol="0" anchor="ctr"/>
          <a:lstStyle/>
          <a:p>
            <a:pPr marL="0" indent="0">
              <a:buNone/>
            </a:pPr>
            <a:r>
              <a:rPr lang="en-US" sz="1200" dirty="0">
                <a:solidFill>
                  <a:schemeClr val="accent4"/>
                </a:solidFill>
              </a:rPr>
              <a:t>Telea, Navier-Stokes, deep learning inpainting</a:t>
            </a:r>
            <a:endParaRPr lang="en-US" sz="1200" dirty="0"/>
          </a:p>
        </p:txBody>
      </p:sp>
      <p:sp>
        <p:nvSpPr>
          <p:cNvPr id="26" name="Shape 24"/>
          <p:cNvSpPr/>
          <p:nvPr/>
        </p:nvSpPr>
        <p:spPr>
          <a:xfrm>
            <a:off x="548640" y="5303520"/>
            <a:ext cx="11064240" cy="822960"/>
          </a:xfrm>
          <a:prstGeom prst="roundRect">
            <a:avLst>
              <a:gd name="adj" fmla="val 13333"/>
            </a:avLst>
          </a:prstGeom>
          <a:solidFill>
            <a:schemeClr val="bg2"/>
          </a:solidFill>
          <a:ln/>
        </p:spPr>
      </p:sp>
      <p:sp>
        <p:nvSpPr>
          <p:cNvPr id="27" name="Text 25"/>
          <p:cNvSpPr txBox="1"/>
          <p:nvPr/>
        </p:nvSpPr>
        <p:spPr>
          <a:xfrm>
            <a:off x="777240" y="5440680"/>
            <a:ext cx="548640" cy="54864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28" name="Text 26"/>
          <p:cNvSpPr txBox="1"/>
          <p:nvPr/>
        </p:nvSpPr>
        <p:spPr>
          <a:xfrm>
            <a:off x="1600200" y="5303520"/>
            <a:ext cx="3291840" cy="822960"/>
          </a:xfrm>
          <a:prstGeom prst="rect">
            <a:avLst/>
          </a:prstGeom>
          <a:noFill/>
          <a:ln/>
        </p:spPr>
        <p:txBody>
          <a:bodyPr wrap="square" lIns="0" tIns="0" rIns="0" bIns="0" rtlCol="0" anchor="ctr"/>
          <a:lstStyle/>
          <a:p>
            <a:pPr marL="0" indent="0">
              <a:buNone/>
            </a:pPr>
            <a:r>
              <a:rPr lang="en-US" sz="1500" b="1" dirty="0">
                <a:solidFill>
                  <a:schemeClr val="tx2"/>
                </a:solidFill>
              </a:rPr>
              <a:t>Image Quality Evaluation and Output Generation</a:t>
            </a:r>
            <a:endParaRPr lang="en-US" sz="1500" dirty="0"/>
          </a:p>
        </p:txBody>
      </p:sp>
      <p:sp>
        <p:nvSpPr>
          <p:cNvPr id="29" name="Text 27"/>
          <p:cNvSpPr txBox="1"/>
          <p:nvPr/>
        </p:nvSpPr>
        <p:spPr>
          <a:xfrm>
            <a:off x="5074920" y="5303520"/>
            <a:ext cx="3520440" cy="822960"/>
          </a:xfrm>
          <a:prstGeom prst="rect">
            <a:avLst/>
          </a:prstGeom>
          <a:noFill/>
          <a:ln/>
        </p:spPr>
        <p:txBody>
          <a:bodyPr wrap="square" lIns="0" tIns="0" rIns="0" bIns="0" rtlCol="0" anchor="ctr"/>
          <a:lstStyle/>
          <a:p>
            <a:pPr marL="0" indent="0">
              <a:buNone/>
            </a:pPr>
            <a:r>
              <a:rPr lang="en-US" sz="1400" dirty="0">
                <a:solidFill>
                  <a:schemeClr val="tx1"/>
                </a:solidFill>
              </a:rPr>
              <a:t>Compare original and restored images and export the result</a:t>
            </a:r>
            <a:endParaRPr lang="en-US" sz="1400" dirty="0"/>
          </a:p>
        </p:txBody>
      </p:sp>
      <p:sp>
        <p:nvSpPr>
          <p:cNvPr id="30" name="Text 28"/>
          <p:cNvSpPr txBox="1"/>
          <p:nvPr/>
        </p:nvSpPr>
        <p:spPr>
          <a:xfrm>
            <a:off x="8823960" y="5303520"/>
            <a:ext cx="2651760" cy="822960"/>
          </a:xfrm>
          <a:prstGeom prst="rect">
            <a:avLst/>
          </a:prstGeom>
          <a:noFill/>
          <a:ln/>
        </p:spPr>
        <p:txBody>
          <a:bodyPr wrap="square" lIns="0" tIns="0" rIns="0" bIns="0" rtlCol="0" anchor="ctr"/>
          <a:lstStyle/>
          <a:p>
            <a:pPr marL="0" indent="0">
              <a:buNone/>
            </a:pPr>
            <a:r>
              <a:rPr lang="en-US" sz="1200" dirty="0">
                <a:solidFill>
                  <a:schemeClr val="accent4"/>
                </a:solidFill>
              </a:rPr>
              <a:t>PSNR, SSIM, difference analysis, side-by-side view</a:t>
            </a:r>
            <a:endParaRPr lang="en-US" sz="1200" dirty="0"/>
          </a:p>
        </p:txBody>
      </p:sp>
      <p:sp>
        <p:nvSpPr>
          <p:cNvPr id="31"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7</a:t>
            </a:fld>
            <a:endParaRPr lang="en-US"/>
          </a:p>
        </p:txBody>
      </p:sp>
    </p:spTree>
  </p:cSld>
  <p:clrMapOvr>
    <a:masterClrMapping/>
  </p:clrMapOvr>
</p:sld>
</file>

<file path=ppt/theme/theme1.xml><?xml version="1.0" encoding="utf-8"?>
<a:theme xmlns:a="http://schemas.openxmlformats.org/drawingml/2006/main" name="Archive">
  <a:themeElements>
    <a:clrScheme name="Archive">
      <a:dk1>
        <a:srgbClr val="1F2933"/>
      </a:dk1>
      <a:lt1>
        <a:srgbClr val="FFFFFF"/>
      </a:lt1>
      <a:dk2>
        <a:srgbClr val="22303C"/>
      </a:dk2>
      <a:lt2>
        <a:srgbClr val="EEF1F4"/>
      </a:lt2>
      <a:accent1>
        <a:srgbClr val="B5651D"/>
      </a:accent1>
      <a:accent2>
        <a:srgbClr val="2A7F82"/>
      </a:accent2>
      <a:accent3>
        <a:srgbClr val="D9A441"/>
      </a:accent3>
      <a:accent4>
        <a:srgbClr val="5B6B7B"/>
      </a:accent4>
      <a:accent5>
        <a:srgbClr val="8C3B2E"/>
      </a:accent5>
      <a:accent6>
        <a:srgbClr val="3E6B4F"/>
      </a:accent6>
      <a:hlink>
        <a:srgbClr val="2A7F82"/>
      </a:hlink>
      <a:folHlink>
        <a:srgbClr val="5B6B7B"/>
      </a:folHlink>
    </a:clrScheme>
    <a:fontScheme name="Archiv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TotalTime>
  <Words>702</Words>
  <Application>Microsoft Office PowerPoint</Application>
  <PresentationFormat>Widescreen</PresentationFormat>
  <Paragraphs>142</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Cambria</vt:lpstr>
      <vt:lpstr>Archive</vt:lpstr>
      <vt:lpstr>Agenda</vt:lpstr>
      <vt:lpstr>Introduction</vt:lpstr>
      <vt:lpstr>Literature Review</vt:lpstr>
      <vt:lpstr>Problem Statement</vt:lpstr>
      <vt:lpstr>Objectives</vt:lpstr>
      <vt:lpstr>System Architecture: Overall Design</vt:lpstr>
      <vt:lpstr>Modules Introduction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Vision-Based Automated Damage Detection and Selective Restoration of Historical Photographs</dc:title>
  <dc:subject>PptxGenJS Presentation</dc:subject>
  <dc:creator>PptxGenJS</dc:creator>
  <cp:lastModifiedBy>Jalaja R</cp:lastModifiedBy>
  <cp:revision>2</cp:revision>
  <dcterms:created xsi:type="dcterms:W3CDTF">2026-10-15T17:13:28Z</dcterms:created>
  <dcterms:modified xsi:type="dcterms:W3CDTF">2026-10-15T17:48:10Z</dcterms:modified>
</cp:coreProperties>
</file>